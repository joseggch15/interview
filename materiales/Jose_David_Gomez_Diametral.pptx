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xlsx" ContentType="application/vnd.openxmlformats-officedocument.spreadsheetml.sheet"/>
  <Override PartName="/ppt/appendix/theme/theme1.xml" ContentType="application/vnd.openxmlformats-officedocument.theme+xml"/>
  <Override PartName="/ppt/appendix/slideMasters/slideMaster1.xml" ContentType="application/vnd.openxmlformats-officedocument.presentationml.slideMaster+xml"/>
  <Override PartName="/ppt/appendix/slideMasters/theme/theme2.xml" ContentType="application/vnd.openxmlformats-officedocument.theme+xml"/>
  <Override PartName="/ppt/appendix/slideLayouts/slideLayout1.xml" ContentType="application/vnd.openxmlformats-officedocument.presentationml.slideLayout+xml"/>
  <Override PartName="/ppt/appendix/slideLayouts/slideLayout2.xml" ContentType="application/vnd.openxmlformats-officedocument.presentationml.slideLayout+xml"/>
  <Override PartName="/ppt/appendix/slideLayouts/slideLayout3.xml" ContentType="application/vnd.openxmlformats-officedocument.presentationml.slideLayout+xml"/>
  <Override PartName="/ppt/appendix/slideLayouts/slideLayout4.xml" ContentType="application/vnd.openxmlformats-officedocument.presentationml.slideLayout+xml"/>
  <Override PartName="/ppt/appendix/slideLayouts/slideLayout5.xml" ContentType="application/vnd.openxmlformats-officedocument.presentationml.slideLayout+xml"/>
  <Override PartName="/ppt/appendix/slideLayouts/slideLayout6.xml" ContentType="application/vnd.openxmlformats-officedocument.presentationml.slideLayout+xml"/>
  <Override PartName="/ppt/appendix/presProps.xml" ContentType="application/vnd.openxmlformats-officedocument.presentationml.presProps+xml"/>
  <Override PartName="/ppt/appendix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Default Extension="jpeg" ContentType="image/jpeg"/>
  <Override PartName="/ppt/education/theme/theme1.xml" ContentType="application/vnd.openxmlformats-officedocument.theme+xml"/>
  <Override PartName="/ppt/education/slideMasters/slideMaster1.xml" ContentType="application/vnd.openxmlformats-officedocument.presentationml.slideMaster+xml"/>
  <Override PartName="/ppt/education/slideMasters/theme/theme2.xml" ContentType="application/vnd.openxmlformats-officedocument.theme+xml"/>
  <Override PartName="/ppt/education/slideLayouts/slideLayout1.xml" ContentType="application/vnd.openxmlformats-officedocument.presentationml.slideLayout+xml"/>
  <Override PartName="/ppt/education/slideLayouts/slideLayout2.xml" ContentType="application/vnd.openxmlformats-officedocument.presentationml.slideLayout+xml"/>
  <Override PartName="/ppt/education/slideLayouts/slideLayout3.xml" ContentType="application/vnd.openxmlformats-officedocument.presentationml.slideLayout+xml"/>
  <Override PartName="/ppt/education/slideLayouts/slideLayout4.xml" ContentType="application/vnd.openxmlformats-officedocument.presentationml.slideLayout+xml"/>
  <Override PartName="/ppt/education/slideLayouts/slideLayout5.xml" ContentType="application/vnd.openxmlformats-officedocument.presentationml.slideLayout+xml"/>
  <Override PartName="/ppt/education/slideLayouts/slideLayout6.xml" ContentType="application/vnd.openxmlformats-officedocument.presentationml.slideLayout+xml"/>
  <Override PartName="/ppt/education/presProps.xml" ContentType="application/vnd.openxmlformats-officedocument.presentationml.presProps+xml"/>
  <Override PartName="/ppt/education/tableStyles.xml" ContentType="application/vnd.openxmlformats-officedocument.presentationml.tableStyles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85ae09b864d73" /><Relationship Type="http://schemas.openxmlformats.org/officeDocument/2006/relationships/extended-properties" Target="/docProps/app.xml" Id="R15394c1c7aad4adf" /><Relationship Type="http://schemas.openxmlformats.org/officeDocument/2006/relationships/officeDocument" Target="/ppt/presentation.xml" Id="R2eeb47d7055b4b6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62417724679e43ae"/>
    <p:sldMasterId id="2147483649" r:id="rIdAppendixMaster0"/>
    <p:sldMasterId id="2147483650" r:id="rIdEducationMaster0"/>
  </p:sldMasterIdLst>
  <p:sldIdLst>
    <p:sldId xmlns:r="http://schemas.openxmlformats.org/officeDocument/2006/relationships" id="256" r:id="R0d5a77deffe94144"/>
    <p:sldId xmlns:r="http://schemas.openxmlformats.org/officeDocument/2006/relationships" id="257" r:id="Rb5144a83c0fb42b1"/>
    <p:sldId id="274" r:id="rIdEducationSlide"/>
    <p:sldId xmlns:r="http://schemas.openxmlformats.org/officeDocument/2006/relationships" id="258" r:id="Rbc683572738f4a36"/>
    <p:sldId xmlns:r="http://schemas.openxmlformats.org/officeDocument/2006/relationships" id="259" r:id="R212f26cda77c4ab8"/>
    <p:sldId xmlns:r="http://schemas.openxmlformats.org/officeDocument/2006/relationships" id="260" r:id="Rb64e8e6557a542e8"/>
    <p:sldId xmlns:r="http://schemas.openxmlformats.org/officeDocument/2006/relationships" id="261" r:id="R98307d61d2194d89"/>
    <p:sldId xmlns:r="http://schemas.openxmlformats.org/officeDocument/2006/relationships" id="262" r:id="R307a96c8403748d8"/>
    <p:sldId xmlns:r="http://schemas.openxmlformats.org/officeDocument/2006/relationships" id="263" r:id="Rf632ab2879ea43e8"/>
    <p:sldId xmlns:r="http://schemas.openxmlformats.org/officeDocument/2006/relationships" id="264" r:id="R9b922101b4934c2a"/>
    <p:sldId xmlns:r="http://schemas.openxmlformats.org/officeDocument/2006/relationships" id="265" r:id="Rbeb10830247e4d61"/>
    <p:sldId xmlns:r="http://schemas.openxmlformats.org/officeDocument/2006/relationships" id="266" r:id="R3f2feaf9790e4134"/>
    <p:sldId xmlns:r="http://schemas.openxmlformats.org/officeDocument/2006/relationships" id="267" r:id="R17d8dad792de45e8"/>
    <p:sldId xmlns:r="http://schemas.openxmlformats.org/officeDocument/2006/relationships" id="268" r:id="Rdc53d74c870b4e87"/>
    <p:sldId id="269" r:id="rIdAppendixSlide14"/>
    <p:sldId id="270" r:id="rIdAppendixSlide15"/>
    <p:sldId id="271" r:id="rIdAppendixSlide16"/>
    <p:sldId id="272" r:id="rIdAppendixSlide17"/>
    <p:sldId id="273" r:id="rIdAppendixSlide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935bbabed24bb9" /><Relationship Type="http://schemas.openxmlformats.org/officeDocument/2006/relationships/slideMaster" Target="/ppt/slideMasters/slideMaster1.xml" Id="R62417724679e43ae" /><Relationship Type="http://schemas.openxmlformats.org/officeDocument/2006/relationships/presProps" Target="/ppt/presProps.xml" Id="Rc2a08abaed944cd1" /><Relationship Type="http://schemas.openxmlformats.org/officeDocument/2006/relationships/tableStyles" Target="/ppt/tableStyles.xml" Id="Rf4e12b4357ac422f" /><Relationship Type="http://schemas.openxmlformats.org/officeDocument/2006/relationships/slide" Target="/ppt/slides/slide1.xml" Id="R0d5a77deffe94144" /><Relationship Type="http://schemas.openxmlformats.org/officeDocument/2006/relationships/slide" Target="/ppt/slides/slide2.xml" Id="Rb5144a83c0fb42b1" /><Relationship Type="http://schemas.openxmlformats.org/officeDocument/2006/relationships/slide" Target="/ppt/slides/slide3.xml" Id="Rbc683572738f4a36" /><Relationship Type="http://schemas.openxmlformats.org/officeDocument/2006/relationships/slide" Target="/ppt/slides/slide4.xml" Id="R212f26cda77c4ab8" /><Relationship Type="http://schemas.openxmlformats.org/officeDocument/2006/relationships/slide" Target="/ppt/slides/slide5.xml" Id="Rb64e8e6557a542e8" /><Relationship Type="http://schemas.openxmlformats.org/officeDocument/2006/relationships/slide" Target="/ppt/slides/slide6.xml" Id="R98307d61d2194d89" /><Relationship Type="http://schemas.openxmlformats.org/officeDocument/2006/relationships/slide" Target="/ppt/slides/slide7.xml" Id="R307a96c8403748d8" /><Relationship Type="http://schemas.openxmlformats.org/officeDocument/2006/relationships/slide" Target="/ppt/slides/slide8.xml" Id="Rf632ab2879ea43e8" /><Relationship Type="http://schemas.openxmlformats.org/officeDocument/2006/relationships/slide" Target="/ppt/slides/slide9.xml" Id="R9b922101b4934c2a" /><Relationship Type="http://schemas.openxmlformats.org/officeDocument/2006/relationships/slide" Target="/ppt/slides/slide10.xml" Id="Rbeb10830247e4d61" /><Relationship Type="http://schemas.openxmlformats.org/officeDocument/2006/relationships/slide" Target="/ppt/slides/slide11.xml" Id="R3f2feaf9790e4134" /><Relationship Type="http://schemas.openxmlformats.org/officeDocument/2006/relationships/slide" Target="/ppt/slides/slide12.xml" Id="R17d8dad792de45e8" /><Relationship Type="http://schemas.openxmlformats.org/officeDocument/2006/relationships/slide" Target="/ppt/slides/slide13.xml" Id="Rdc53d74c870b4e87" /><Relationship Id="rIdAppendixSlide14" Type="http://schemas.openxmlformats.org/officeDocument/2006/relationships/slide" Target="slides/slide14.xml"/><Relationship Id="rIdAppendixSlide15" Type="http://schemas.openxmlformats.org/officeDocument/2006/relationships/slide" Target="slides/slide15.xml"/><Relationship Id="rIdAppendixSlide16" Type="http://schemas.openxmlformats.org/officeDocument/2006/relationships/slide" Target="slides/slide16.xml"/><Relationship Id="rIdAppendixSlide17" Type="http://schemas.openxmlformats.org/officeDocument/2006/relationships/slide" Target="slides/slide17.xml"/><Relationship Id="rIdAppendixSlide18" Type="http://schemas.openxmlformats.org/officeDocument/2006/relationships/slide" Target="slides/slide18.xml"/><Relationship Id="rIdAppendixMaster0" Type="http://schemas.openxmlformats.org/officeDocument/2006/relationships/slideMaster" Target="appendix/slideMasters/slideMaster1.xml"/><Relationship Id="rIdEducationSlide" Type="http://schemas.openxmlformats.org/officeDocument/2006/relationships/slide" Target="slides/slide19.xml"/><Relationship Id="rIdEducationMaster0" Type="http://schemas.openxmlformats.org/officeDocument/2006/relationships/slideMaster" Target="education/slideMasters/slideMaster1.xml"/></Relationships>
</file>

<file path=ppt/appendix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appendix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a406c161c851412c" /></Relationships>
</file>

<file path=ppt/appendix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90d672c54f524f94" /></Relationships>
</file>

<file path=ppt/appendix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fe0dc0ea95174e08" /></Relationships>
</file>

<file path=ppt/appendix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5b4a2eb8d6754aed" /></Relationships>
</file>

<file path=ppt/appendix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dc988449d1654db3" /></Relationships>
</file>

<file path=ppt/appendix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4473fd980de94d18" /></Relationships>
</file>

<file path=ppt/appendix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A97819-3B21-443D-840B-4F6E55592F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AC5965-77E6-4C8C-86CC-90DCB29D1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appendix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788617-4F1E-4C50-94D6-DD459DDABE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appendix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D7CFF-49B6-49DD-BCE7-FCF74D5AE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931739-6B6C-4444-9BD8-83A0CCFF0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appendix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0B7E45-1ECF-45E4-AB6C-62272CF00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107E63-B881-45AF-9789-DA5A9C2BFA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C60147-EBF4-4036-9A77-437D9BB59B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appendix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F23B5B-47D2-44EA-B9F9-B51947100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DD814F-50B1-4EEB-8CF1-65D897136C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appendix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appendix/slideMasters/_rels/slideMaster1.xml.rels>&#65279;<?xml version="1.0" encoding="utf-8"?><Relationships xmlns="http://schemas.openxmlformats.org/package/2006/relationships"><Relationship Type="http://schemas.openxmlformats.org/officeDocument/2006/relationships/theme" Target="theme/theme2.xml" Id="R491a52d9785649e5" /><Relationship Type="http://schemas.openxmlformats.org/officeDocument/2006/relationships/slideLayout" Target="../slideLayouts/slideLayout1.xml" Id="R328640d498f64b65" /><Relationship Type="http://schemas.openxmlformats.org/officeDocument/2006/relationships/slideLayout" Target="../slideLayouts/slideLayout2.xml" Id="R9e52dc110a4e486c" /><Relationship Type="http://schemas.openxmlformats.org/officeDocument/2006/relationships/slideLayout" Target="../slideLayouts/slideLayout3.xml" Id="R45d09f31c5594c48" /><Relationship Type="http://schemas.openxmlformats.org/officeDocument/2006/relationships/slideLayout" Target="../slideLayouts/slideLayout4.xml" Id="R738bc5f6e4d14c36" /><Relationship Type="http://schemas.openxmlformats.org/officeDocument/2006/relationships/slideLayout" Target="../slideLayouts/slideLayout5.xml" Id="Rcd8b2d5db0e144f0" /><Relationship Type="http://schemas.openxmlformats.org/officeDocument/2006/relationships/slideLayout" Target="../slideLayouts/slideLayout6.xml" Id="R65af107abf9b43a6" /></Relationships>
</file>

<file path=ppt/appendix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640d498f64b65"/>
    <p:sldLayoutId xmlns:r="http://schemas.openxmlformats.org/officeDocument/2006/relationships" id="2147483650" r:id="R9e52dc110a4e486c"/>
    <p:sldLayoutId xmlns:r="http://schemas.openxmlformats.org/officeDocument/2006/relationships" id="2147483651" r:id="R45d09f31c5594c48"/>
    <p:sldLayoutId xmlns:r="http://schemas.openxmlformats.org/officeDocument/2006/relationships" id="2147483652" r:id="R738bc5f6e4d14c36"/>
    <p:sldLayoutId xmlns:r="http://schemas.openxmlformats.org/officeDocument/2006/relationships" id="2147483653" r:id="Rcd8b2d5db0e144f0"/>
    <p:sldLayoutId xmlns:r="http://schemas.openxmlformats.org/officeDocument/2006/relationships" id="2147483654" r:id="R65af107abf9b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appendix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appendix/tableStyles.xml><?xml version="1.0" encoding="utf-8"?>
<a:tblStyleLst xmlns:a="http://schemas.openxmlformats.org/drawingml/2006/main" def="{5C22544A-7EE6-4342-B048-85BDC9FD1C3A}"/>
</file>

<file path=ppt/appendix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education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education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7ce1ea8a4c714b39" /></Relationships>
</file>

<file path=ppt/education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c602ce3a6a9244a9" /></Relationships>
</file>

<file path=ppt/education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f240d1cd0164481f" /></Relationships>
</file>

<file path=ppt/education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946b97bd5e5243dd" /></Relationships>
</file>

<file path=ppt/education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ad8cb016bfe34f16" /></Relationships>
</file>

<file path=ppt/education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../slideMasters/slideMaster1.xml" Id="R02096e9bce3f4efa" /></Relationships>
</file>

<file path=ppt/education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ED4980-4B42-4C0E-A8D3-807DB82F4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D169C7-89BE-4C53-919D-D15D0F4882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education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CE4273-A1C0-48D3-8998-79AC20F52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education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070933-6764-48C3-AE30-891CFC139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B4EF72-FB31-448C-8A26-16019F670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education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BE63FC-2045-42E6-90C8-8C6950066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E534D6-FBE1-4F17-B28F-8727AEDE8B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5BBCD0-229F-4C25-829D-3AB1ADC390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education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49E3AF-112C-4647-A044-EF0F7651B8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CF8C3-160F-4345-9254-1CB079A616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education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education/slideMasters/_rels/slideMaster1.xml.rels>&#65279;<?xml version="1.0" encoding="utf-8"?><Relationships xmlns="http://schemas.openxmlformats.org/package/2006/relationships"><Relationship Type="http://schemas.openxmlformats.org/officeDocument/2006/relationships/theme" Target="theme/theme2.xml" Id="Rbd3feaa308024c23" /><Relationship Type="http://schemas.openxmlformats.org/officeDocument/2006/relationships/slideLayout" Target="../slideLayouts/slideLayout1.xml" Id="R77d258eeede346dc" /><Relationship Type="http://schemas.openxmlformats.org/officeDocument/2006/relationships/slideLayout" Target="../slideLayouts/slideLayout2.xml" Id="Ra29607ae12674cb1" /><Relationship Type="http://schemas.openxmlformats.org/officeDocument/2006/relationships/slideLayout" Target="../slideLayouts/slideLayout3.xml" Id="Rc0012fb074194888" /><Relationship Type="http://schemas.openxmlformats.org/officeDocument/2006/relationships/slideLayout" Target="../slideLayouts/slideLayout4.xml" Id="R240a1c8fb294468b" /><Relationship Type="http://schemas.openxmlformats.org/officeDocument/2006/relationships/slideLayout" Target="../slideLayouts/slideLayout5.xml" Id="Rdafe99eda13b4e2a" /><Relationship Type="http://schemas.openxmlformats.org/officeDocument/2006/relationships/slideLayout" Target="../slideLayouts/slideLayout6.xml" Id="R02d83a30736c4a7d" /></Relationships>
</file>

<file path=ppt/education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258eeede346dc"/>
    <p:sldLayoutId xmlns:r="http://schemas.openxmlformats.org/officeDocument/2006/relationships" id="2147483650" r:id="Ra29607ae12674cb1"/>
    <p:sldLayoutId xmlns:r="http://schemas.openxmlformats.org/officeDocument/2006/relationships" id="2147483651" r:id="Rc0012fb074194888"/>
    <p:sldLayoutId xmlns:r="http://schemas.openxmlformats.org/officeDocument/2006/relationships" id="2147483652" r:id="R240a1c8fb294468b"/>
    <p:sldLayoutId xmlns:r="http://schemas.openxmlformats.org/officeDocument/2006/relationships" id="2147483653" r:id="Rdafe99eda13b4e2a"/>
    <p:sldLayoutId xmlns:r="http://schemas.openxmlformats.org/officeDocument/2006/relationships" id="2147483654" r:id="R02d83a30736c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education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education/tableStyles.xml><?xml version="1.0" encoding="utf-8"?>
<a:tblStyleLst xmlns:a="http://schemas.openxmlformats.org/drawingml/2006/main" def="{5C22544A-7EE6-4342-B048-85BDC9FD1C3A}"/>
</file>

<file path=ppt/education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c2f661fb348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3c86693fb4b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e4f58764d42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c961254d249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3cd18bd174d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98a4dcd4b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4C37E9-B2B4-4E54-82BA-2A5D4D7C27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151C95-62EA-44AA-B720-BF7DD1EDE8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D68DC3-7CBD-49CF-934B-E3683575F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3BCDB7-E8DA-4F7A-85A1-C06BB17EB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019C5F-D21A-491F-B3BF-54DED9318F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5DFBEE-8AAC-4192-921F-901B5FDC6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DE6F34-214A-4846-B167-707C507B31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D068BA-5082-4137-9C0E-C54C8F100C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09D0E2-69C7-4E8C-855B-5F2D934B6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F780B5-24C9-4FA8-9393-BE34575515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27e5529e24ee8" /><Relationship Type="http://schemas.openxmlformats.org/officeDocument/2006/relationships/slideLayout" Target="/ppt/slideLayouts/slideLayout1.xml" Id="R8396743ac22446ec" /><Relationship Type="http://schemas.openxmlformats.org/officeDocument/2006/relationships/slideLayout" Target="/ppt/slideLayouts/slideLayout2.xml" Id="Rb616ef2eb0ea4661" /><Relationship Type="http://schemas.openxmlformats.org/officeDocument/2006/relationships/slideLayout" Target="/ppt/slideLayouts/slideLayout3.xml" Id="R3c792b45038e40d3" /><Relationship Type="http://schemas.openxmlformats.org/officeDocument/2006/relationships/slideLayout" Target="/ppt/slideLayouts/slideLayout4.xml" Id="R0d4e5aa8d0ac4009" /><Relationship Type="http://schemas.openxmlformats.org/officeDocument/2006/relationships/slideLayout" Target="/ppt/slideLayouts/slideLayout5.xml" Id="Raa115be68e31411f" /><Relationship Type="http://schemas.openxmlformats.org/officeDocument/2006/relationships/slideLayout" Target="/ppt/slideLayouts/slideLayout6.xml" Id="R332dd0b3261641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6743ac22446ec"/>
    <p:sldLayoutId xmlns:r="http://schemas.openxmlformats.org/officeDocument/2006/relationships" id="2147483650" r:id="Rb616ef2eb0ea4661"/>
    <p:sldLayoutId xmlns:r="http://schemas.openxmlformats.org/officeDocument/2006/relationships" id="2147483651" r:id="R3c792b45038e40d3"/>
    <p:sldLayoutId xmlns:r="http://schemas.openxmlformats.org/officeDocument/2006/relationships" id="2147483652" r:id="R0d4e5aa8d0ac4009"/>
    <p:sldLayoutId xmlns:r="http://schemas.openxmlformats.org/officeDocument/2006/relationships" id="2147483653" r:id="Raa115be68e31411f"/>
    <p:sldLayoutId xmlns:r="http://schemas.openxmlformats.org/officeDocument/2006/relationships" id="2147483654" r:id="R332dd0b3261641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e326012f1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64383aac64d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bf34d3e4e49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aa310d13c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0a29889074c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cb678e0624212" /><Relationship Type="http://schemas.openxmlformats.org/officeDocument/2006/relationships/chart" Target="/ppt/slides/charts/chart1.xml" Id="Rd59bd062cc5249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0eb4ac4644010" /><Relationship Type="http://schemas.openxmlformats.org/officeDocument/2006/relationships/chart" Target="/ppt/slides/charts/chart2.xml" Id="Rdd4322e14e134b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8b92af8304f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1f3284f6a42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3072385ba4f15" /><Relationship Type="http://schemas.openxmlformats.org/officeDocument/2006/relationships/chart" Target="/ppt/slides/charts/chart3.xml" Id="R54eaae22bcef44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2d56d6c7a45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90c5f404a4c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a0ecb69b047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../appendix/slideLayouts/slideLayout6.xml" Id="R94c2d203b2c14269" /><Relationship Type="http://schemas.openxmlformats.org/officeDocument/2006/relationships/image" Target="../appendix/media/image.png" Id="Rb93a019b24ea4a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../appendix/slideLayouts/slideLayout6.xml" Id="R034c54e747d44ac3" /><Relationship Type="http://schemas.openxmlformats.org/officeDocument/2006/relationships/image" Target="../appendix/media/image2.png" Id="Rc6d0c9b34d2b46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../appendix/slideLayouts/slideLayout6.xml" Id="R42dcd4cad87f451c" /><Relationship Type="http://schemas.openxmlformats.org/officeDocument/2006/relationships/image" Target="../appendix/media/image3.png" Id="R832afe34af9d4f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../appendix/slideLayouts/slideLayout6.xml" Id="Rcb4a5b092b8d4f0f" /><Relationship Type="http://schemas.openxmlformats.org/officeDocument/2006/relationships/image" Target="../appendix/media/image4.png" Id="R7013174ecc874d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../appendix/slideLayouts/slideLayout6.xml" Id="R73805ff11a7b4498" /><Relationship Type="http://schemas.openxmlformats.org/officeDocument/2006/relationships/image" Target="../appendix/media/image.jpeg" Id="Rae1c9bd513e844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../education/slideLayouts/slideLayout6.xml" Id="R9157e8e464054e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Cantidad</c:v>
          </c:tx>
          <c:spPr>
            <a:solidFill xmlns:a="http://schemas.openxmlformats.org/drawingml/2006/main">
              <a:srgbClr val="13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Inspecciones</c:v>
                </c:pt>
                <c:pt idx="1">
                  <c:v>Equipos revisados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42</c:v>
                </c:pt>
                <c:pt idx="1">
                  <c:v>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0D292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DD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8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2DDD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06367"/>
                    </a:solidFill>
                    <a:latin typeface="Arial"/>
                    <a:ea typeface="Arial"/>
                    <a:cs typeface="Arial"/>
                  </a:rPr>
                  <a:t>Cantidad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06367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Ingreso</c:v>
          </c:tx>
          <c:spPr>
            <a:solidFill xmlns:a="http://schemas.openxmlformats.org/drawingml/2006/main">
              <a:srgbClr val="13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TFL9901</c:v>
                </c:pt>
                <c:pt idx="1">
                  <c:v>TFL9902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32219</c:v>
                </c:pt>
                <c:pt idx="1">
                  <c:v>35991</c:v>
                </c:pt>
              </c:numCache>
            </c:numRef>
          </c:val>
        </c:ser>
        <c:ser>
          <c:idx val="1"/>
          <c:order val="1"/>
          <c:tx>
            <c:v>Entrega</c:v>
          </c:tx>
          <c:spPr>
            <a:solidFill xmlns:a="http://schemas.openxmlformats.org/drawingml/2006/main">
              <a:srgbClr val="759E9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TFL9901</c:v>
                </c:pt>
                <c:pt idx="1">
                  <c:v>TFL9902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29699</c:v>
                </c:pt>
                <c:pt idx="1">
                  <c:v>33561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0D292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DD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2DDD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06367"/>
                    </a:solidFill>
                    <a:latin typeface="Arial"/>
                    <a:ea typeface="Arial"/>
                    <a:cs typeface="Arial"/>
                  </a:rPr>
                  <a:t>Litros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06367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0D292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Medido</c:v>
          </c:tx>
          <c:spPr>
            <a:ln xmlns:a="http://schemas.openxmlformats.org/drawingml/2006/main" w="28575">
              <a:solidFill>
                <a:srgbClr val="137C76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37C76"/>
              </a:solidFill>
            </c:spPr>
          </c:marker>
          <c:cat>
            <c:strRef>
              <c:f>'Chart Data'!$A$2:$A$9</c:f>
              <c:strCache>
                <c:ptCount val="8"/>
                <c:pt idx="0">
                  <c:v>14 abr</c:v>
                </c:pt>
                <c:pt idx="1">
                  <c:v>15 abr</c:v>
                </c:pt>
                <c:pt idx="2">
                  <c:v>16 abr</c:v>
                </c:pt>
                <c:pt idx="3">
                  <c:v>17 abr</c:v>
                </c:pt>
                <c:pt idx="4">
                  <c:v>18 abr</c:v>
                </c:pt>
                <c:pt idx="5">
                  <c:v>19 abr</c:v>
                </c:pt>
                <c:pt idx="6">
                  <c:v>20 abr</c:v>
                </c:pt>
                <c:pt idx="7">
                  <c:v>21 abr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305600</c:v>
                </c:pt>
                <c:pt idx="1">
                  <c:v>306400</c:v>
                </c:pt>
                <c:pt idx="2">
                  <c:v>307200</c:v>
                </c:pt>
                <c:pt idx="3">
                  <c:v>308000</c:v>
                </c:pt>
                <c:pt idx="4">
                  <c:v>308800</c:v>
                </c:pt>
                <c:pt idx="5">
                  <c:v>309180</c:v>
                </c:pt>
                <c:pt idx="6">
                  <c:v>309980</c:v>
                </c:pt>
                <c:pt idx="7">
                  <c:v>310780</c:v>
                </c:pt>
              </c:numCache>
            </c:numRef>
          </c:val>
        </c:ser>
        <c:ser>
          <c:idx val="1"/>
          <c:order val="1"/>
          <c:tx>
            <c:v>Calculado</c:v>
          </c:tx>
          <c:spPr>
            <a:ln xmlns:a="http://schemas.openxmlformats.org/drawingml/2006/main" w="28575">
              <a:solidFill>
                <a:srgbClr val="B37C42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B37C42"/>
              </a:solidFill>
            </c:spPr>
          </c:marker>
          <c:cat>
            <c:strRef>
              <c:f>'Chart Data'!$C$2:$C$9</c:f>
              <c:strCache>
                <c:ptCount val="8"/>
                <c:pt idx="0">
                  <c:v>14 abr</c:v>
                </c:pt>
                <c:pt idx="1">
                  <c:v>15 abr</c:v>
                </c:pt>
                <c:pt idx="2">
                  <c:v>16 abr</c:v>
                </c:pt>
                <c:pt idx="3">
                  <c:v>17 abr</c:v>
                </c:pt>
                <c:pt idx="4">
                  <c:v>18 abr</c:v>
                </c:pt>
                <c:pt idx="5">
                  <c:v>19 abr</c:v>
                </c:pt>
                <c:pt idx="6">
                  <c:v>20 abr</c:v>
                </c:pt>
                <c:pt idx="7">
                  <c:v>21 abr</c:v>
                </c:pt>
              </c:strCache>
            </c:strRef>
          </c:cat>
          <c:val>
            <c:numRef>
              <c:f>'Chart Data'!$D$2:$D$9</c:f>
              <c:numCache>
                <c:formatCode>#,##0</c:formatCode>
                <c:ptCount val="8"/>
                <c:pt idx="0">
                  <c:v>305600</c:v>
                </c:pt>
                <c:pt idx="1">
                  <c:v>306400</c:v>
                </c:pt>
                <c:pt idx="2">
                  <c:v>307200</c:v>
                </c:pt>
                <c:pt idx="3">
                  <c:v>308000</c:v>
                </c:pt>
                <c:pt idx="4">
                  <c:v>308800</c:v>
                </c:pt>
                <c:pt idx="5">
                  <c:v>309600</c:v>
                </c:pt>
                <c:pt idx="6">
                  <c:v>310400</c:v>
                </c:pt>
                <c:pt idx="7">
                  <c:v>311200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DD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12000"/>
          <c:min val="30500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2DDD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06367"/>
                    </a:solidFill>
                    <a:latin typeface="Arial"/>
                    <a:ea typeface="Arial"/>
                    <a:cs typeface="Arial"/>
                  </a:rPr>
                  <a:t>Litros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06367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3EB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0D292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9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15594551-3AD4-49FE-BF54-43C9743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6F3EB"/>
                </a:solidFill>
                <a:latin typeface="Arial"/>
                <a:ea typeface="Arial"/>
                <a:cs typeface="Arial"/>
              </a:rPr>
              <a:t>José David</a:t>
            </a:r>
          </a:p>
          <a:p xmlns:a="http://schemas.openxmlformats.org/drawingml/2006/main">
            <a:pPr>
              <a:defRPr sz="585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6F3EB"/>
                </a:solidFill>
                <a:latin typeface="Arial"/>
                <a:ea typeface="Arial"/>
                <a:cs typeface="Arial"/>
              </a:rPr>
              <a:t>Gómez Chamorro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FA0B023-9713-43C5-8C89-ACB70D82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8F36A"/>
                </a:solidFill>
                <a:latin typeface="Arial"/>
                <a:ea typeface="Arial"/>
                <a:cs typeface="Arial"/>
              </a:rPr>
              <a:t>Datos, software y operaciones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BBDE3B7-D0A8-4BBB-9605-9B884330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6B7B1"/>
                </a:solidFill>
                <a:latin typeface="Arial"/>
                <a:ea typeface="Arial"/>
                <a:cs typeface="Arial"/>
              </a:rPr>
              <a:t>Entrevista con Diametral</a:t>
            </a:r>
          </a:p>
          <a:p xmlns:a="http://schemas.openxmlformats.org/drawingml/2006/main">
            <a:pPr>
              <a:defRPr sz="2025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6B7B1"/>
                </a:solidFill>
                <a:latin typeface="Arial"/>
                <a:ea typeface="Arial"/>
                <a:cs typeface="Arial"/>
              </a:rPr>
              <a:t>Jueves 15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79199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70B55697-1B6E-4431-8BB5-BCBE41C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Perfil y formación</a:t>
            </a:r>
          </a:p>
        </p:txBody>
      </p:sp>
      <p:sp>
        <p:nvSpPr>
          <p:cNvPr id="2" name="text-5">
            <a:extLst xmlns:a="http://schemas.openxmlformats.org/drawingml/2006/main">
              <a:ext uri="{FF2B5EF4-FFF2-40B4-BE49-F238E27FC236}">
                <a16:creationId xmlns:a16="http://schemas.microsoft.com/office/drawing/2014/main" id="{C335CCBC-87DA-479B-B61C-CA43085F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6">
            <a:extLst xmlns:a="http://schemas.openxmlformats.org/drawingml/2006/main">
              <a:ext uri="{FF2B5EF4-FFF2-40B4-BE49-F238E27FC236}">
                <a16:creationId xmlns:a16="http://schemas.microsoft.com/office/drawing/2014/main" id="{1D73D73D-FC69-4860-B9A9-04180AF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38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Ingeniería aplicada</a:t>
            </a:r>
          </a:p>
          <a:p xmlns:a="http://schemas.openxmlformats.org/drawingml/2006/main">
            <a:pPr>
              <a:defRPr sz="31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a los datos operativos</a:t>
            </a:r>
          </a:p>
        </p:txBody>
      </p:sp>
      <p:sp>
        <p:nvSpPr>
          <p:cNvPr id="4" name="text-7">
            <a:extLst xmlns:a="http://schemas.openxmlformats.org/drawingml/2006/main">
              <a:ext uri="{FF2B5EF4-FFF2-40B4-BE49-F238E27FC236}">
                <a16:creationId xmlns:a16="http://schemas.microsoft.com/office/drawing/2014/main" id="{2F06F91E-65E7-4A48-8E2B-882F3E1B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Experiencia en producción y mantenimiento, investigación naval, análisis de KPIs y desarrollo de software.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B524B-C5DA-4813-91F5-2A3E72A60EF9}"/>
              </a:ext>
            </a:extLst>
          </p:cNvPr>
          <p:cNvGraphicFramePr/>
          <p:nvPr/>
        </p:nvGraphicFramePr>
        <p:xfrm>
          <a:off xmlns:a="http://schemas.openxmlformats.org/drawingml/2006/main" x="5391150" y="1819275"/>
          <a:ext xmlns:a="http://schemas.openxmlformats.org/drawingml/2006/main" cx="611505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43200"/>
                <a:gridCol w="3371850"/>
              </a:tblGrid>
              <a:tr h="708660">
                <a:tc>
                  <a:txBody>
                    <a:bodyPr lIns="133350" tIns="114300" rIns="114300" bIns="95250"/>
                    <a:lstStyle/>
                    <a:p>
                      <a:r>
                        <a:rPr sz="180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Formación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Institución / periodo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</a:tr>
              <a:tr h="70866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Ingeniería Mecatrónica</a:t>
                      </a:r>
                    </a:p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Ingeniería Mecánica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UTB · 2013–2018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70866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MBA y Máster en Big Data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ENEB · 2018–2021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70866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Especialización en</a:t>
                      </a:r>
                    </a:p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Ingeniería de Software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UNIR · 2023–2024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70866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Ingeniería de Software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Universidad de Cartagena</a:t>
                      </a:r>
                    </a:p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En curso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FBDE9989-4AA0-4C8B-8DC6-CAD568E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Herramientas: Python, Power BI, MySQL, Excel y desarrollo web</a:t>
            </a:r>
          </a:p>
        </p:txBody>
      </p:sp>
    </p:spTree>
    <p:extLst>
      <p:ext uri="{BB962C8B-B14F-4D97-AF65-F5344CB8AC3E}">
        <p14:creationId xmlns:p14="http://schemas.microsoft.com/office/powerpoint/2010/main" val="1952711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5E99ABBF-9924-47FB-9EA1-EF2F0C89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Trayectoria profesional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FEE8DFA4-FBA8-4201-B374-FE107D28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Producción y mantenimiento como base para el análisis de datos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45EE3560-44C5-4E1D-8970-37DB87D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C9A66-ED1E-4F83-803D-B47DD1C12F1C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3648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57450"/>
                <a:gridCol w="4143375"/>
                <a:gridCol w="4219575"/>
              </a:tblGrid>
              <a:tr h="608013">
                <a:tc>
                  <a:txBody>
                    <a:bodyPr lIns="133350" tIns="114300" rIns="114300" bIns="95250"/>
                    <a:lstStyle/>
                    <a:p>
                      <a:r>
                        <a:rPr sz="172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Periodo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Rol y organización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Experiencia relevante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</a:tr>
              <a:tr h="608013"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Jul. 2017 – abr. 2018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Auxiliar de Producción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Biofilm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Eficiencia de líneas, inventarios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seguimiento de producto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08013"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Oct. 2018 – sep. 2019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Ingeniero Supervisor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Stip S.A.S.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Mantenimiento, equipos críticos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coordinación de personal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08013"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Ago. 2020 – feb. 2021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Operador Pull Roll Stand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Taghleef Industries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Control de producción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registro en PEM-SAP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08013"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Feb. – nov. 2023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Investigador III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COTECMAR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Investigación naval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desarrollo frontend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08013"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Dic. 2023 – actualidad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Analista de Datos y Operaciones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Prologic Group · servicios para Newmont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KPIs FMS, Power BI, calidad</a:t>
                      </a:r>
                    </a:p>
                    <a:p>
                      <a:r>
                        <a:rPr sz="17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automatización con Python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279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9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2">
            <a:extLst xmlns:a="http://schemas.openxmlformats.org/drawingml/2006/main">
              <a:ext uri="{FF2B5EF4-FFF2-40B4-BE49-F238E27FC236}">
                <a16:creationId xmlns:a16="http://schemas.microsoft.com/office/drawing/2014/main" id="{E760DB3A-7896-4388-8F7D-9BBAD276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EB"/>
                </a:solidFill>
                <a:latin typeface="Arial"/>
                <a:ea typeface="Arial"/>
                <a:cs typeface="Arial"/>
              </a:rPr>
              <a:t>Analítica en la operación actual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1A8B0B72-8575-42AA-BCA2-AE3C7BC6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B7B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11266420-626C-4C5B-B3B8-5E4DED0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KPIs de combustible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CF3DD592-5879-4664-A0FF-A044F731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10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Reportes semanales y mensuales de diésel, lubricantes y Burn Rate con Power BI.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2EE9C017-1EEC-4A23-8844-A174DA9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Calidad y trazabilidad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EFD80FAC-F479-4B4F-BF38-B9BE94D1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048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Investigación de anomalías y comunicación de hallazgos a responsables operativos.</a:t>
            </a:r>
          </a:p>
        </p:txBody>
      </p:sp>
      <p:sp>
        <p:nvSpPr>
          <p:cNvPr id="7" name="text-18">
            <a:extLst xmlns:a="http://schemas.openxmlformats.org/drawingml/2006/main">
              <a:ext uri="{FF2B5EF4-FFF2-40B4-BE49-F238E27FC236}">
                <a16:creationId xmlns:a16="http://schemas.microsoft.com/office/drawing/2014/main" id="{FC958F28-3FAA-414E-B288-087D123E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Datos maestros FMS</a:t>
            </a:r>
          </a:p>
        </p:txBody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4DE3B48E-17F1-4704-A3F3-6CA56513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610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Inventario, altas y actualizaciones de equipos, RFID y estados.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3F41E664-C4A0-4D68-A57A-F5D734C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Automatización y pruebas</a:t>
            </a:r>
          </a:p>
        </p:txBody>
      </p:sp>
      <p:sp>
        <p:nvSpPr>
          <p:cNvPr id="10" name="text-21">
            <a:extLst xmlns:a="http://schemas.openxmlformats.org/drawingml/2006/main">
              <a:ext uri="{FF2B5EF4-FFF2-40B4-BE49-F238E27FC236}">
                <a16:creationId xmlns:a16="http://schemas.microsoft.com/office/drawing/2014/main" id="{CAFA81BD-63C2-4567-8C0C-D92FD9A3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Procesos con Python, seguimiento de reportes de servicio y participación en testing de CMMS.</a:t>
            </a:r>
          </a:p>
        </p:txBody>
      </p:sp>
    </p:spTree>
    <p:extLst>
      <p:ext uri="{BB962C8B-B14F-4D97-AF65-F5344CB8AC3E}">
        <p14:creationId xmlns:p14="http://schemas.microsoft.com/office/powerpoint/2010/main" val="46388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DFF12233-68EC-45E2-BD31-17159A2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Cinco proyectos, cinco preguntas operativas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F8217B6C-3B1D-426A-BA27-5D88E87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BAE92-697D-45F3-9921-0E23989A8207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4905375"/>
                <a:gridCol w="3190875"/>
              </a:tblGrid>
              <a:tr h="619125">
                <a:tc>
                  <a:txBody>
                    <a:bodyPr lIns="133350" tIns="114300" rIns="114300" bIns="95250"/>
                    <a:lstStyle/>
                    <a:p>
                      <a:r>
                        <a:rPr sz="187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Pregunta que ayuda a responder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Resultado disponible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</a:tr>
              <a:tr h="619125"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Fleet Maintenance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¿Qué equipos se inspeccionaron</a:t>
                      </a:r>
                    </a:p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qué dispositivos cambiaron?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Cobertura y reportes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19125"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Intake vs Delivery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¿Cuánto ingresó y cuánto se entregó</a:t>
                      </a:r>
                    </a:p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por nodo y periodo?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Conciliación y trazabilidad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19125"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Overfill SFL Spy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¿Qué registros superan</a:t>
                      </a:r>
                    </a:p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el límite de llenado seguro?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Alertas para revisión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19125"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Sweeper and Mop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¿Qué datos presentan incoherencias</a:t>
                      </a:r>
                    </a:p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qué se debe verificar?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Hallazgos y propuestas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19125"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HMI Tank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¿Cómo evolucionan los movimientos</a:t>
                      </a:r>
                    </a:p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las lecturas de los tanques?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7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Balance y tendencias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11CA1A19-D4CF-404A-BFFE-8985FD56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Python para análisis de escritorio. JavaScript para exploración en el navegador</a:t>
            </a:r>
          </a:p>
        </p:txBody>
      </p:sp>
    </p:spTree>
    <p:extLst>
      <p:ext uri="{BB962C8B-B14F-4D97-AF65-F5344CB8AC3E}">
        <p14:creationId xmlns:p14="http://schemas.microsoft.com/office/powerpoint/2010/main" val="1980222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496C5A8F-6B00-4284-96D6-C535143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Fleet Maintenance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9FDB0FC1-77A6-4128-91B5-862E839E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Inspecciones y movimientos de TAG / SMU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D7CA073B-7249-4264-BEF9-031D45C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42EB1586-5ADC-4F3A-85AC-B75FDAD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524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Formulario Excel</a:t>
            </a:r>
          </a:p>
          <a:p xmlns:a="http://schemas.openxmlformats.org/drawingml/2006/main">
            <a:pPr>
              <a:defRPr sz="247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Base local SQLite</a:t>
            </a:r>
          </a:p>
          <a:p xmlns:a="http://schemas.openxmlformats.org/drawingml/2006/main">
            <a:pPr>
              <a:defRPr sz="247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Tablero y reporte Excel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82431ACD-2404-4F27-90CC-9A5AB3C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219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Cuenta equipos distintos con al menos una inspección por mes.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D634524-4740-448B-8B49-C12830227093}"/>
              </a:ext>
            </a:extLst>
          </p:cNvPr>
          <p:cNvGraphicFramePr/>
          <p:nvPr/>
        </p:nvGraphicFramePr>
        <p:xfrm>
          <a:off xmlns:a="http://schemas.openxmlformats.org/drawingml/2006/main" x="4333875" y="2000250"/>
          <a:ext xmlns:a="http://schemas.openxmlformats.org/drawingml/2006/main" cx="71723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9bd062cc5249fa"/>
          </a:graphicData>
        </a:graphic>
      </p:graphicFrame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4EE7A6DC-C05B-4DCF-8A96-6DF785D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Ejemplo sintético: abril de 2025. 24 equipos, 42 inspecciones y 100% de cobertura</a:t>
            </a:r>
          </a:p>
        </p:txBody>
      </p:sp>
    </p:spTree>
    <p:extLst>
      <p:ext uri="{BB962C8B-B14F-4D97-AF65-F5344CB8AC3E}">
        <p14:creationId xmlns:p14="http://schemas.microsoft.com/office/powerpoint/2010/main" val="116388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1">
            <a:extLst xmlns:a="http://schemas.openxmlformats.org/drawingml/2006/main">
              <a:ext uri="{FF2B5EF4-FFF2-40B4-BE49-F238E27FC236}">
                <a16:creationId xmlns:a16="http://schemas.microsoft.com/office/drawing/2014/main" id="{413F7DE1-5262-47C8-A937-C0A0CEDE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Intake vs Delivery</a:t>
            </a:r>
          </a:p>
        </p:txBody>
      </p:sp>
      <p:sp>
        <p:nvSpPr>
          <p:cNvPr id="2" name="text-32">
            <a:extLst xmlns:a="http://schemas.openxmlformats.org/drawingml/2006/main">
              <a:ext uri="{FF2B5EF4-FFF2-40B4-BE49-F238E27FC236}">
                <a16:creationId xmlns:a16="http://schemas.microsoft.com/office/drawing/2014/main" id="{31060C72-9213-480F-BCC6-9B287B21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Conciliación por producto, unidad y periodo</a:t>
            </a:r>
          </a:p>
        </p:txBody>
      </p:sp>
      <p:sp>
        <p:nvSpPr>
          <p:cNvPr id="3" name="text-33">
            <a:extLst xmlns:a="http://schemas.openxmlformats.org/drawingml/2006/main">
              <a:ext uri="{FF2B5EF4-FFF2-40B4-BE49-F238E27FC236}">
                <a16:creationId xmlns:a16="http://schemas.microsoft.com/office/drawing/2014/main" id="{93BE9F7C-B77C-467E-9EA4-8339277C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34">
            <a:extLst xmlns:a="http://schemas.openxmlformats.org/drawingml/2006/main">
              <a:ext uri="{FF2B5EF4-FFF2-40B4-BE49-F238E27FC236}">
                <a16:creationId xmlns:a16="http://schemas.microsoft.com/office/drawing/2014/main" id="{02516115-4CBA-48E2-850E-0A52E9AD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Ingreso − entrega</a:t>
            </a:r>
          </a:p>
        </p:txBody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86384D8D-6937-4FD2-828B-C24F0DB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3238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Despachos y transferencias forman un mismo flujo de movimientos.</a:t>
            </a:r>
          </a:p>
        </p:txBody>
      </p:sp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25F0D538-E7CB-41BF-88CA-E415F7AD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El desvío orienta la revisión de registros y medidores.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37F11C7-7D06-45EB-84E5-CA0470CCC591}"/>
              </a:ext>
            </a:extLst>
          </p:cNvPr>
          <p:cNvGraphicFramePr/>
          <p:nvPr/>
        </p:nvGraphicFramePr>
        <p:xfrm>
          <a:off xmlns:a="http://schemas.openxmlformats.org/drawingml/2006/main" x="4429125" y="1971675"/>
          <a:ext xmlns:a="http://schemas.openxmlformats.org/drawingml/2006/main" cx="7077075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4322e14e134bbe"/>
          </a:graphicData>
        </a:graphic>
      </p:graphicFrame>
      <p:sp>
        <p:nvSpPr>
          <p:cNvPr id="8" name="text-37">
            <a:extLst xmlns:a="http://schemas.openxmlformats.org/drawingml/2006/main">
              <a:ext uri="{FF2B5EF4-FFF2-40B4-BE49-F238E27FC236}">
                <a16:creationId xmlns:a16="http://schemas.microsoft.com/office/drawing/2014/main" id="{8E92C6AD-E18D-4377-97E9-28E6384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Ejemplo sintético. El acumulado muestra desvío desde cero, sin inventario inicial</a:t>
            </a:r>
          </a:p>
        </p:txBody>
      </p:sp>
    </p:spTree>
    <p:extLst>
      <p:ext uri="{BB962C8B-B14F-4D97-AF65-F5344CB8AC3E}">
        <p14:creationId xmlns:p14="http://schemas.microsoft.com/office/powerpoint/2010/main" val="1215434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8">
            <a:extLst xmlns:a="http://schemas.openxmlformats.org/drawingml/2006/main">
              <a:ext uri="{FF2B5EF4-FFF2-40B4-BE49-F238E27FC236}">
                <a16:creationId xmlns:a16="http://schemas.microsoft.com/office/drawing/2014/main" id="{577D2D5D-623F-4C5D-8339-9BAA5AA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Overfill SFL Spy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83F5528B-C992-47B8-A072-2DE91D6B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Cruce de transacciones con el límite de llenado seguro por producto</a:t>
            </a:r>
          </a:p>
        </p:txBody>
      </p:sp>
      <p:sp>
        <p:nvSpPr>
          <p:cNvPr id="3" name="text-40">
            <a:extLst xmlns:a="http://schemas.openxmlformats.org/drawingml/2006/main">
              <a:ext uri="{FF2B5EF4-FFF2-40B4-BE49-F238E27FC236}">
                <a16:creationId xmlns:a16="http://schemas.microsoft.com/office/drawing/2014/main" id="{F72F79DF-38AD-43BE-91FC-2729E4D6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54840-3AD8-4B51-92BF-666F7E719834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2524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1809750"/>
                <a:gridCol w="2190750"/>
                <a:gridCol w="1905000"/>
                <a:gridCol w="2438400"/>
              </a:tblGrid>
              <a:tr h="841375">
                <a:tc>
                  <a:txBody>
                    <a:bodyPr lIns="133350" tIns="114300" rIns="114300" bIns="95250"/>
                    <a:lstStyle/>
                    <a:p>
                      <a:r>
                        <a:rPr sz="195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Equipo demo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SFL (L)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Registro (L)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Exceso (L)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Lectura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</a:tr>
              <a:tr h="841375"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DLV-302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Revisar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841375"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DLV-302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110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157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95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Revisar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BB81AF42-D276-4D79-8AF2-AA0C2D3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Priorización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900CE38E-B91F-48F9-97DB-17BA8DE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06730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Exceso, recurrencia y equipos sin límite configurado.</a:t>
            </a:r>
          </a:p>
        </p:txBody>
      </p:sp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1C0C37A0-1966-4890-B1B4-0970DACA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Ejemplo sintético. La alerta indica una transacción a revisar</a:t>
            </a:r>
          </a:p>
        </p:txBody>
      </p:sp>
    </p:spTree>
    <p:extLst>
      <p:ext uri="{BB962C8B-B14F-4D97-AF65-F5344CB8AC3E}">
        <p14:creationId xmlns:p14="http://schemas.microsoft.com/office/powerpoint/2010/main" val="314880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4">
            <a:extLst xmlns:a="http://schemas.openxmlformats.org/drawingml/2006/main">
              <a:ext uri="{FF2B5EF4-FFF2-40B4-BE49-F238E27FC236}">
                <a16:creationId xmlns:a16="http://schemas.microsoft.com/office/drawing/2014/main" id="{4C1CFF9F-2929-4203-B14A-1FE0E50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Sweeper and Mop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EBDD2415-87C4-4A37-95D6-44484FF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Calidad de datos y propuestas con evidencia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53538F57-CF19-40F4-B0A5-A11C5A23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055D2833-DB4A-429A-A143-E08741B1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Tiempo y caudal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65DF4B6F-2070-4A73-A816-D25B6C9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3528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Revisa duración, volumen, perfil de flujo y posibles arrastres de lectura.</a:t>
            </a:r>
          </a:p>
        </p:txBody>
      </p:sp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EA98F0C4-51FD-4EE3-AED7-0256A3E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Datos maestros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CF2B765E-0549-40A7-8EF6-AD69091A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3528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Contrasta matrículas, centros de costo y banderas de equipos.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99F0D-6956-45DD-B39E-1B065532B43B}"/>
              </a:ext>
            </a:extLst>
          </p:cNvPr>
          <p:cNvGraphicFramePr/>
          <p:nvPr/>
        </p:nvGraphicFramePr>
        <p:xfrm>
          <a:off xmlns:a="http://schemas.openxmlformats.org/drawingml/2006/main" x="4457700" y="2114550"/>
          <a:ext xmlns:a="http://schemas.openxmlformats.org/drawingml/2006/main" cx="7048500" cy="2590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66900"/>
                <a:gridCol w="1581150"/>
                <a:gridCol w="1809750"/>
                <a:gridCol w="1790700"/>
              </a:tblGrid>
              <a:tr h="647700">
                <a:tc>
                  <a:txBody>
                    <a:bodyPr lIns="133350" tIns="114300" rIns="114300" bIns="95250"/>
                    <a:lstStyle/>
                    <a:p>
                      <a:r>
                        <a:rPr sz="180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Caso demo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Duración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Registro (L)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Acción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</a:tr>
              <a:tr h="64770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D-D00100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3 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415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Revisión manual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4770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D-D00153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145 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271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Revisión manual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47700"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D-D00204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216 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404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1800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Revisión manual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74141CA4-A59A-477E-8837-B14AF07D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76825"/>
            <a:ext cx="6915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Cada propuesta conserva la evidencia y requiere revisión del analista.</a:t>
            </a:r>
          </a:p>
        </p:txBody>
      </p:sp>
      <p:sp>
        <p:nvSpPr>
          <p:cNvPr id="10" name="text-52">
            <a:extLst xmlns:a="http://schemas.openxmlformats.org/drawingml/2006/main">
              <a:ext uri="{FF2B5EF4-FFF2-40B4-BE49-F238E27FC236}">
                <a16:creationId xmlns:a16="http://schemas.microsoft.com/office/drawing/2014/main" id="{F19DFA89-CA41-46D9-8932-95E86BE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Ejemplo sintético. Los tres registros requieren revisión de la evidencia</a:t>
            </a:r>
          </a:p>
        </p:txBody>
      </p:sp>
    </p:spTree>
    <p:extLst>
      <p:ext uri="{BB962C8B-B14F-4D97-AF65-F5344CB8AC3E}">
        <p14:creationId xmlns:p14="http://schemas.microsoft.com/office/powerpoint/2010/main" val="1059044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3">
            <a:extLst xmlns:a="http://schemas.openxmlformats.org/drawingml/2006/main">
              <a:ext uri="{FF2B5EF4-FFF2-40B4-BE49-F238E27FC236}">
                <a16:creationId xmlns:a16="http://schemas.microsoft.com/office/drawing/2014/main" id="{7DB6BD0B-A99F-44EA-B7CA-BE0EBB8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HMI Tank</a:t>
            </a:r>
          </a:p>
        </p:txBody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89E92AB6-2A3C-4D44-8D82-D450E8B8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Exploración de movimientos y lecturas de tanques en el navegador</a:t>
            </a:r>
          </a:p>
        </p:txBody>
      </p:sp>
      <p:sp>
        <p:nvSpPr>
          <p:cNvPr id="3" name="text-55">
            <a:extLst xmlns:a="http://schemas.openxmlformats.org/drawingml/2006/main">
              <a:ext uri="{FF2B5EF4-FFF2-40B4-BE49-F238E27FC236}">
                <a16:creationId xmlns:a16="http://schemas.microsoft.com/office/drawing/2014/main" id="{A2C49646-6097-4322-9176-DC1DF45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8DB3F43C-6DC1-410B-9328-10D706B7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Stock medido</a:t>
            </a:r>
          </a:p>
          <a:p xmlns:a="http://schemas.openxmlformats.org/drawingml/2006/main">
            <a:pPr>
              <a:defRPr sz="2550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y balance calculado</a:t>
            </a:r>
          </a:p>
        </p:txBody>
      </p:sp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DBBE005B-CC6D-433B-8460-FD16E73F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Reproducción temporal, tendencias y alertas con evidencia.</a:t>
            </a:r>
          </a:p>
        </p:txBody>
      </p:sp>
      <p:sp>
        <p:nvSpPr>
          <p:cNvPr id="6" name="text-58">
            <a:extLst xmlns:a="http://schemas.openxmlformats.org/drawingml/2006/main">
              <a:ext uri="{FF2B5EF4-FFF2-40B4-BE49-F238E27FC236}">
                <a16:creationId xmlns:a16="http://schemas.microsoft.com/office/drawing/2014/main" id="{3A387669-921D-4B7F-810A-3BF50BB8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Lecturas + movimientos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8D3CDD4-424C-4DCD-BCEE-C262C490B932}"/>
              </a:ext>
            </a:extLst>
          </p:cNvPr>
          <p:cNvGraphicFramePr/>
          <p:nvPr/>
        </p:nvGraphicFramePr>
        <p:xfrm>
          <a:off xmlns:a="http://schemas.openxmlformats.org/drawingml/2006/main" x="4333875" y="1981200"/>
          <a:ext xmlns:a="http://schemas.openxmlformats.org/drawingml/2006/main" cx="7172325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aae22bcef4402"/>
          </a:graphicData>
        </a:graphic>
      </p:graphicFrame>
      <p:sp>
        <p:nvSpPr>
          <p:cNvPr id="8" name="text-59">
            <a:extLst xmlns:a="http://schemas.openxmlformats.org/drawingml/2006/main">
              <a:ext uri="{FF2B5EF4-FFF2-40B4-BE49-F238E27FC236}">
                <a16:creationId xmlns:a16="http://schemas.microsoft.com/office/drawing/2014/main" id="{237393CA-DB1C-4188-B241-F6AE0046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Ejemplo sintético. El cálculo combina nivel de referencia e ingresos y salidas</a:t>
            </a:r>
          </a:p>
        </p:txBody>
      </p:sp>
    </p:spTree>
    <p:extLst>
      <p:ext uri="{BB962C8B-B14F-4D97-AF65-F5344CB8AC3E}">
        <p14:creationId xmlns:p14="http://schemas.microsoft.com/office/powerpoint/2010/main" val="1830370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29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60">
            <a:extLst xmlns:a="http://schemas.openxmlformats.org/drawingml/2006/main">
              <a:ext uri="{FF2B5EF4-FFF2-40B4-BE49-F238E27FC236}">
                <a16:creationId xmlns:a16="http://schemas.microsoft.com/office/drawing/2014/main" id="{3632304E-EA89-4517-882F-8294FBB9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EB"/>
                </a:solidFill>
                <a:latin typeface="Arial"/>
                <a:ea typeface="Arial"/>
                <a:cs typeface="Arial"/>
              </a:rPr>
              <a:t>Datos de demo y privacidad</a:t>
            </a:r>
          </a:p>
        </p:txBody>
      </p:sp>
      <p:sp>
        <p:nvSpPr>
          <p:cNvPr id="2" name="text-61">
            <a:extLst xmlns:a="http://schemas.openxmlformats.org/drawingml/2006/main">
              <a:ext uri="{FF2B5EF4-FFF2-40B4-BE49-F238E27FC236}">
                <a16:creationId xmlns:a16="http://schemas.microsoft.com/office/drawing/2014/main" id="{5715EF6A-00A5-460E-9652-C758220B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B7B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62">
            <a:extLst xmlns:a="http://schemas.openxmlformats.org/drawingml/2006/main">
              <a:ext uri="{FF2B5EF4-FFF2-40B4-BE49-F238E27FC236}">
                <a16:creationId xmlns:a16="http://schemas.microsoft.com/office/drawing/2014/main" id="{B3DDF01F-7C5C-4FB9-BC53-7C8D7394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0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0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100% sintéticos</a:t>
            </a:r>
          </a:p>
        </p:txBody>
      </p:sp>
      <p:sp>
        <p:nvSpPr>
          <p:cNvPr id="4" name="text-63">
            <a:extLst xmlns:a="http://schemas.openxmlformats.org/drawingml/2006/main">
              <a:ext uri="{FF2B5EF4-FFF2-40B4-BE49-F238E27FC236}">
                <a16:creationId xmlns:a16="http://schemas.microsoft.com/office/drawing/2014/main" id="{B6294CFE-D155-4698-850E-A83809B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64">
            <a:extLst xmlns:a="http://schemas.openxmlformats.org/drawingml/2006/main">
              <a:ext uri="{FF2B5EF4-FFF2-40B4-BE49-F238E27FC236}">
                <a16:creationId xmlns:a16="http://schemas.microsoft.com/office/drawing/2014/main" id="{8CA8D245-1DB6-4FA3-9BB0-1AA7646A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600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Generar casos con reglas conocidas</a:t>
            </a:r>
          </a:p>
        </p:txBody>
      </p:sp>
      <p:sp>
        <p:nvSpPr>
          <p:cNvPr id="6" name="text-65">
            <a:extLst xmlns:a="http://schemas.openxmlformats.org/drawingml/2006/main">
              <a:ext uri="{FF2B5EF4-FFF2-40B4-BE49-F238E27FC236}">
                <a16:creationId xmlns:a16="http://schemas.microsoft.com/office/drawing/2014/main" id="{DC24D52B-5CAC-4AB8-8396-E484597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66">
            <a:extLst xmlns:a="http://schemas.openxmlformats.org/drawingml/2006/main">
              <a:ext uri="{FF2B5EF4-FFF2-40B4-BE49-F238E27FC236}">
                <a16:creationId xmlns:a16="http://schemas.microsoft.com/office/drawing/2014/main" id="{3A92FE41-7132-4D13-86A9-EC9BA0BE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4600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Conservar encabezados y relaciones</a:t>
            </a:r>
          </a:p>
        </p:txBody>
      </p:sp>
      <p:sp>
        <p:nvSpPr>
          <p:cNvPr id="8" name="text-67">
            <a:extLst xmlns:a="http://schemas.openxmlformats.org/drawingml/2006/main">
              <a:ext uri="{FF2B5EF4-FFF2-40B4-BE49-F238E27FC236}">
                <a16:creationId xmlns:a16="http://schemas.microsoft.com/office/drawing/2014/main" id="{D73BD71B-8986-4B3B-9F45-1C2ACB67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ext-68">
            <a:extLst xmlns:a="http://schemas.openxmlformats.org/drawingml/2006/main">
              <a:ext uri="{FF2B5EF4-FFF2-40B4-BE49-F238E27FC236}">
                <a16:creationId xmlns:a16="http://schemas.microsoft.com/office/drawing/2014/main" id="{6BCB1C99-7177-4F2B-9B54-8A9399FA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4600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Comprobar resultados esperados</a:t>
            </a:r>
          </a:p>
        </p:txBody>
      </p:sp>
      <p:sp>
        <p:nvSpPr>
          <p:cNvPr id="10" name="text-69">
            <a:extLst xmlns:a="http://schemas.openxmlformats.org/drawingml/2006/main">
              <a:ext uri="{FF2B5EF4-FFF2-40B4-BE49-F238E27FC236}">
                <a16:creationId xmlns:a16="http://schemas.microsoft.com/office/drawing/2014/main" id="{844CBF06-F259-43DE-9D57-3E6CB69C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ext-70">
            <a:extLst xmlns:a="http://schemas.openxmlformats.org/drawingml/2006/main">
              <a:ext uri="{FF2B5EF4-FFF2-40B4-BE49-F238E27FC236}">
                <a16:creationId xmlns:a16="http://schemas.microsoft.com/office/drawing/2014/main" id="{B5866D48-90DE-48E6-BA27-3C7E7A51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4600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Presentar ejemplos etiquetados</a:t>
            </a:r>
          </a:p>
        </p:txBody>
      </p:sp>
      <p:sp>
        <p:nvSpPr>
          <p:cNvPr id="12" name="text-71">
            <a:extLst xmlns:a="http://schemas.openxmlformats.org/drawingml/2006/main">
              <a:ext uri="{FF2B5EF4-FFF2-40B4-BE49-F238E27FC236}">
                <a16:creationId xmlns:a16="http://schemas.microsoft.com/office/drawing/2014/main" id="{97A2CB94-9731-4FBA-8F16-6E04269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524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Identificadores y grupos ficticios</a:t>
            </a:r>
          </a:p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Personas y ubicaciones inventadas</a:t>
            </a:r>
          </a:p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Fechas y cantidades de demostración</a:t>
            </a:r>
          </a:p>
          <a:p xmlns:a="http://schemas.openxmlformats.org/drawingml/2006/main">
            <a:pPr>
              <a:defRPr sz="210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Recreaciones interactivas de la interfaz</a:t>
            </a:r>
          </a:p>
        </p:txBody>
      </p:sp>
    </p:spTree>
    <p:extLst>
      <p:ext uri="{BB962C8B-B14F-4D97-AF65-F5344CB8AC3E}">
        <p14:creationId xmlns:p14="http://schemas.microsoft.com/office/powerpoint/2010/main" val="186806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70321B8E-2D35-456A-A2AC-CDFB3C82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Encaje con analítica de datos</a:t>
            </a:r>
          </a:p>
        </p:txBody>
      </p:sp>
      <p:sp>
        <p:nvSpPr>
          <p:cNvPr id="2" name="text-73">
            <a:extLst xmlns:a="http://schemas.openxmlformats.org/drawingml/2006/main">
              <a:ext uri="{FF2B5EF4-FFF2-40B4-BE49-F238E27FC236}">
                <a16:creationId xmlns:a16="http://schemas.microsoft.com/office/drawing/2014/main" id="{84E471ED-7B45-43D6-AEDB-5DFA7A4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57A75-792C-4283-A5D9-5B02C3CCAACA}"/>
              </a:ext>
            </a:extLst>
          </p:cNvPr>
          <p:cNvGraphicFramePr/>
          <p:nvPr/>
        </p:nvGraphicFramePr>
        <p:xfrm>
          <a:off xmlns:a="http://schemas.openxmlformats.org/drawingml/2006/main" x="685800" y="1914525"/>
          <a:ext xmlns:a="http://schemas.openxmlformats.org/drawingml/2006/main" cx="10820400" cy="3105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86300"/>
                <a:gridCol w="6134100"/>
              </a:tblGrid>
              <a:tr h="621030">
                <a:tc>
                  <a:txBody>
                    <a:bodyPr lIns="133350" tIns="114300" rIns="114300" bIns="95250"/>
                    <a:lstStyle/>
                    <a:p>
                      <a:r>
                        <a:rPr sz="202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Experiencia demostrada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2025" b="1">
                          <a:solidFill>
                            <a:srgbClr val="F6F3EB"/>
                          </a:solidFill>
                          <a:latin typeface="Arial"/>
                          <a:ea typeface="Arial"/>
                          <a:cs typeface="Arial"/>
                        </a:rPr>
                        <a:t>Posible aporte al equipo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T w="6668">
                      <a:solidFill>
                        <a:srgbClr val="D2DDD7"/>
                      </a:solidFill>
                      <a:prstDash val="solid"/>
                    </a:lnT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0D292E"/>
                    </a:solidFill>
                  </a:tcPr>
                </a:tc>
              </a:tr>
              <a:tr h="621030"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Preparación y calidad de datos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Reglas de validación, trazabilidad</a:t>
                      </a:r>
                    </a:p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revisión de fuentes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21030"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Python, Power BI y SQL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Automatización, análisis</a:t>
                      </a:r>
                    </a:p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comunicación de resultados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21030"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Conocimiento de operaciones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Métricas conectadas con procesos</a:t>
                      </a:r>
                    </a:p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preguntas del negocio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  <a:tr h="621030"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Desarrollo de software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2DDD7"/>
                      </a:solidFill>
                      <a:prstDash val="solid"/>
                    </a:lnL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 lIns="133350" tIns="114300" rIns="114300" bIns="95250"/>
                    <a:lstStyle/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Herramientas utilizables</a:t>
                      </a:r>
                    </a:p>
                    <a:p>
                      <a:r>
                        <a:rPr sz="2025" b="0">
                          <a:solidFill>
                            <a:srgbClr val="0D292E"/>
                          </a:solidFill>
                          <a:latin typeface="Arial"/>
                          <a:ea typeface="Arial"/>
                          <a:cs typeface="Arial"/>
                        </a:rPr>
                        <a:t>y resultados reproducibles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2DDD7"/>
                      </a:solidFill>
                      <a:prstDash val="solid"/>
                    </a:lnR>
                    <a:lnB w="6668">
                      <a:solidFill>
                        <a:srgbClr val="D2DDD7"/>
                      </a:solidFill>
                      <a:prstDash val="solid"/>
                    </a:lnB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6C034CBD-BBE8-48B2-90FA-8B8EC4E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Siguiente paso propuesto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96E75ECB-3D99-4DC6-96AA-E13C3CDD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6553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D292E"/>
                </a:solidFill>
                <a:latin typeface="Arial"/>
                <a:ea typeface="Arial"/>
                <a:cs typeface="Arial"/>
              </a:rPr>
              <a:t>Evaluar un caso de ML con datos validados y una métrica de negocio.</a:t>
            </a:r>
          </a:p>
        </p:txBody>
      </p:sp>
    </p:spTree>
    <p:extLst>
      <p:ext uri="{BB962C8B-B14F-4D97-AF65-F5344CB8AC3E}">
        <p14:creationId xmlns:p14="http://schemas.microsoft.com/office/powerpoint/2010/main" val="20729062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9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6">
            <a:extLst xmlns:a="http://schemas.openxmlformats.org/drawingml/2006/main">
              <a:ext uri="{FF2B5EF4-FFF2-40B4-BE49-F238E27FC236}">
                <a16:creationId xmlns:a16="http://schemas.microsoft.com/office/drawing/2014/main" id="{C24F1111-106A-44D5-B64C-9CA916F5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D8F36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D8F36A"/>
                </a:solidFill>
                <a:latin typeface="Arial"/>
                <a:ea typeface="Arial"/>
                <a:cs typeface="Arial"/>
              </a:rPr>
              <a:t>Conversación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415C784A-E09C-4C76-B9D1-CE802C66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6F3EB"/>
                </a:solidFill>
                <a:latin typeface="Arial"/>
                <a:ea typeface="Arial"/>
                <a:cs typeface="Arial"/>
              </a:rPr>
              <a:t>¿Qué problema de datos</a:t>
            </a:r>
          </a:p>
          <a:p xmlns:a="http://schemas.openxmlformats.org/drawingml/2006/main">
            <a:pPr>
              <a:defRPr sz="4500" b="1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6F3EB"/>
                </a:solidFill>
                <a:latin typeface="Arial"/>
                <a:ea typeface="Arial"/>
                <a:cs typeface="Arial"/>
              </a:rPr>
              <a:t>les gustaría revisar primero?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5E1F184F-A914-41EA-8604-9DC14251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42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6F3E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EB"/>
                </a:solidFill>
                <a:latin typeface="Arial"/>
                <a:ea typeface="Arial"/>
                <a:cs typeface="Arial"/>
              </a:rPr>
              <a:t>José David Gómez Chamorro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A0E96F2A-726A-490F-8FDF-35427A52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429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6B7B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6B7B1"/>
                </a:solidFill>
                <a:latin typeface="Arial"/>
                <a:ea typeface="Arial"/>
                <a:cs typeface="Arial"/>
              </a:rPr>
              <a:t>josedavidgomezchamorro@outlook.com</a:t>
            </a:r>
          </a:p>
        </p:txBody>
      </p:sp>
    </p:spTree>
    <p:extLst>
      <p:ext uri="{BB962C8B-B14F-4D97-AF65-F5344CB8AC3E}">
        <p14:creationId xmlns:p14="http://schemas.microsoft.com/office/powerpoint/2010/main" val="5747508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pendix-text-1">
            <a:extLst xmlns:a="http://schemas.openxmlformats.org/drawingml/2006/main">
              <a:ext uri="{FF2B5EF4-FFF2-40B4-BE49-F238E27FC236}">
                <a16:creationId xmlns:a16="http://schemas.microsoft.com/office/drawing/2014/main" id="{7CDA8814-70AB-4DB0-A89A-623BCEB2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Fleet Maintenance</a:t>
            </a:r>
          </a:p>
        </p:txBody>
      </p:sp>
      <p:sp>
        <p:nvSpPr>
          <p:cNvPr id="2" name="appendix-text-2">
            <a:extLst xmlns:a="http://schemas.openxmlformats.org/drawingml/2006/main">
              <a:ext uri="{FF2B5EF4-FFF2-40B4-BE49-F238E27FC236}">
                <a16:creationId xmlns:a16="http://schemas.microsoft.com/office/drawing/2014/main" id="{67B178A7-5F27-42E8-89E2-38E86BF4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Seguimiento de inspecciones, TAG y horómetros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C495-0ED3-4AB4-B97F-58737A5B0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a019b24ea4a11"/>
          <a:stretch xmlns:a="http://schemas.openxmlformats.org/drawingml/2006/main"/>
        </p:blipFill>
        <p:spPr>
          <a:xfrm xmlns:a="http://schemas.openxmlformats.org/drawingml/2006/main">
            <a:off x="2773680" y="1885950"/>
            <a:ext cx="6644640" cy="4152900"/>
          </a:xfrm>
          <a:prstGeom xmlns:a="http://schemas.openxmlformats.org/drawingml/2006/main" prst="rect">
            <a:avLst/>
          </a:prstGeom>
        </p:spPr>
      </p:pic>
      <p:sp>
        <p:nvSpPr>
          <p:cNvPr id="4" name="appendix-text-3">
            <a:extLst xmlns:a="http://schemas.openxmlformats.org/drawingml/2006/main">
              <a:ext uri="{FF2B5EF4-FFF2-40B4-BE49-F238E27FC236}">
                <a16:creationId xmlns:a16="http://schemas.microsoft.com/office/drawing/2014/main" id="{40CEF484-A651-4B54-A1C5-19681DAE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Interfaz original funcionando con datos 100% sintéticos</a:t>
            </a:r>
          </a:p>
        </p:txBody>
      </p:sp>
      <p:sp>
        <p:nvSpPr>
          <p:cNvPr id="5" name="appendix-text-4">
            <a:extLst xmlns:a="http://schemas.openxmlformats.org/drawingml/2006/main">
              <a:ext uri="{FF2B5EF4-FFF2-40B4-BE49-F238E27FC236}">
                <a16:creationId xmlns:a16="http://schemas.microsoft.com/office/drawing/2014/main" id="{2776E4B1-D1ED-4C70-B419-0E8F11ED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447328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pendix-text-5">
            <a:extLst xmlns:a="http://schemas.openxmlformats.org/drawingml/2006/main">
              <a:ext uri="{FF2B5EF4-FFF2-40B4-BE49-F238E27FC236}">
                <a16:creationId xmlns:a16="http://schemas.microsoft.com/office/drawing/2014/main" id="{7736F091-0C35-441C-99DB-A673801B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Intake vs Delivery</a:t>
            </a:r>
          </a:p>
        </p:txBody>
      </p:sp>
      <p:sp>
        <p:nvSpPr>
          <p:cNvPr id="2" name="appendix-text-6">
            <a:extLst xmlns:a="http://schemas.openxmlformats.org/drawingml/2006/main">
              <a:ext uri="{FF2B5EF4-FFF2-40B4-BE49-F238E27FC236}">
                <a16:creationId xmlns:a16="http://schemas.microsoft.com/office/drawing/2014/main" id="{C8B0C27C-1623-42FC-9E38-B8BB2EDF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Comparación de entradas y salidas de combustible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2A858-16C6-4EF4-A918-B90ED2FD8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0c9b34d2b461e"/>
          <a:stretch xmlns:a="http://schemas.openxmlformats.org/drawingml/2006/main"/>
        </p:blipFill>
        <p:spPr>
          <a:xfrm xmlns:a="http://schemas.openxmlformats.org/drawingml/2006/main">
            <a:off x="2773680" y="1885950"/>
            <a:ext cx="6644640" cy="4152900"/>
          </a:xfrm>
          <a:prstGeom xmlns:a="http://schemas.openxmlformats.org/drawingml/2006/main" prst="rect">
            <a:avLst/>
          </a:prstGeom>
        </p:spPr>
      </p:pic>
      <p:sp>
        <p:nvSpPr>
          <p:cNvPr id="4" name="appendix-text-7">
            <a:extLst xmlns:a="http://schemas.openxmlformats.org/drawingml/2006/main">
              <a:ext uri="{FF2B5EF4-FFF2-40B4-BE49-F238E27FC236}">
                <a16:creationId xmlns:a16="http://schemas.microsoft.com/office/drawing/2014/main" id="{560E8CF9-D970-4BA0-9067-6C43A9FE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Interfaz original funcionando con datos 100% sintéticos</a:t>
            </a:r>
          </a:p>
        </p:txBody>
      </p:sp>
      <p:sp>
        <p:nvSpPr>
          <p:cNvPr id="5" name="appendix-text-8">
            <a:extLst xmlns:a="http://schemas.openxmlformats.org/drawingml/2006/main">
              <a:ext uri="{FF2B5EF4-FFF2-40B4-BE49-F238E27FC236}">
                <a16:creationId xmlns:a16="http://schemas.microsoft.com/office/drawing/2014/main" id="{99C70E3F-9682-4B5F-9A46-BF10AD28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5326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pendix-text-9">
            <a:extLst xmlns:a="http://schemas.openxmlformats.org/drawingml/2006/main">
              <a:ext uri="{FF2B5EF4-FFF2-40B4-BE49-F238E27FC236}">
                <a16:creationId xmlns:a16="http://schemas.microsoft.com/office/drawing/2014/main" id="{B3F99DED-4771-477E-B1BC-9E42068B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Overfill SFL Spy</a:t>
            </a:r>
          </a:p>
        </p:txBody>
      </p:sp>
      <p:sp>
        <p:nvSpPr>
          <p:cNvPr id="2" name="appendix-text-10">
            <a:extLst xmlns:a="http://schemas.openxmlformats.org/drawingml/2006/main">
              <a:ext uri="{FF2B5EF4-FFF2-40B4-BE49-F238E27FC236}">
                <a16:creationId xmlns:a16="http://schemas.microsoft.com/office/drawing/2014/main" id="{3BCAB646-71B2-4246-A0E0-139BA415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Revisión de despachos frente al nivel seguro de llenado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25277-BC68-4B32-BA6F-CD41E6EF25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fe34af9d4ffd"/>
          <a:stretch xmlns:a="http://schemas.openxmlformats.org/drawingml/2006/main"/>
        </p:blipFill>
        <p:spPr>
          <a:xfrm xmlns:a="http://schemas.openxmlformats.org/drawingml/2006/main">
            <a:off x="2773680" y="1885950"/>
            <a:ext cx="6644640" cy="4152900"/>
          </a:xfrm>
          <a:prstGeom xmlns:a="http://schemas.openxmlformats.org/drawingml/2006/main" prst="rect">
            <a:avLst/>
          </a:prstGeom>
        </p:spPr>
      </p:pic>
      <p:sp>
        <p:nvSpPr>
          <p:cNvPr id="4" name="appendix-text-11">
            <a:extLst xmlns:a="http://schemas.openxmlformats.org/drawingml/2006/main">
              <a:ext uri="{FF2B5EF4-FFF2-40B4-BE49-F238E27FC236}">
                <a16:creationId xmlns:a16="http://schemas.microsoft.com/office/drawing/2014/main" id="{41804B81-DF94-4C89-AC22-1F330AAB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Interfaz original funcionando con datos 100% sintéticos</a:t>
            </a:r>
          </a:p>
        </p:txBody>
      </p:sp>
      <p:sp>
        <p:nvSpPr>
          <p:cNvPr id="5" name="appendix-text-12">
            <a:extLst xmlns:a="http://schemas.openxmlformats.org/drawingml/2006/main">
              <a:ext uri="{FF2B5EF4-FFF2-40B4-BE49-F238E27FC236}">
                <a16:creationId xmlns:a16="http://schemas.microsoft.com/office/drawing/2014/main" id="{F3A89374-2DC6-413B-B410-B27C317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754066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pendix-text-13">
            <a:extLst xmlns:a="http://schemas.openxmlformats.org/drawingml/2006/main">
              <a:ext uri="{FF2B5EF4-FFF2-40B4-BE49-F238E27FC236}">
                <a16:creationId xmlns:a16="http://schemas.microsoft.com/office/drawing/2014/main" id="{32B65665-1DA7-4F73-8561-35C06DAE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Sweeper &amp; Mop</a:t>
            </a:r>
          </a:p>
        </p:txBody>
      </p:sp>
      <p:sp>
        <p:nvSpPr>
          <p:cNvPr id="2" name="appendix-text-14">
            <a:extLst xmlns:a="http://schemas.openxmlformats.org/drawingml/2006/main">
              <a:ext uri="{FF2B5EF4-FFF2-40B4-BE49-F238E27FC236}">
                <a16:creationId xmlns:a16="http://schemas.microsoft.com/office/drawing/2014/main" id="{63D3F940-4C1D-40A3-AB12-EAD39AE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Detección de incoherencias y propuestas de corrección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578D2-51F8-43D2-9843-A31397347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3174ecc874dde"/>
          <a:stretch xmlns:a="http://schemas.openxmlformats.org/drawingml/2006/main"/>
        </p:blipFill>
        <p:spPr>
          <a:xfrm xmlns:a="http://schemas.openxmlformats.org/drawingml/2006/main">
            <a:off x="2773680" y="1885950"/>
            <a:ext cx="6644640" cy="4152900"/>
          </a:xfrm>
          <a:prstGeom xmlns:a="http://schemas.openxmlformats.org/drawingml/2006/main" prst="rect">
            <a:avLst/>
          </a:prstGeom>
        </p:spPr>
      </p:pic>
      <p:sp>
        <p:nvSpPr>
          <p:cNvPr id="4" name="appendix-text-15">
            <a:extLst xmlns:a="http://schemas.openxmlformats.org/drawingml/2006/main">
              <a:ext uri="{FF2B5EF4-FFF2-40B4-BE49-F238E27FC236}">
                <a16:creationId xmlns:a16="http://schemas.microsoft.com/office/drawing/2014/main" id="{6310A7D4-7FBA-4494-A1FD-D24EBF2D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Interfaz original funcionando con datos 100% sintéticos</a:t>
            </a:r>
          </a:p>
        </p:txBody>
      </p:sp>
      <p:sp>
        <p:nvSpPr>
          <p:cNvPr id="5" name="appendix-text-16">
            <a:extLst xmlns:a="http://schemas.openxmlformats.org/drawingml/2006/main">
              <a:ext uri="{FF2B5EF4-FFF2-40B4-BE49-F238E27FC236}">
                <a16:creationId xmlns:a16="http://schemas.microsoft.com/office/drawing/2014/main" id="{95968312-1658-4783-887F-EB547780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367839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pendix-text-17">
            <a:extLst xmlns:a="http://schemas.openxmlformats.org/drawingml/2006/main">
              <a:ext uri="{FF2B5EF4-FFF2-40B4-BE49-F238E27FC236}">
                <a16:creationId xmlns:a16="http://schemas.microsoft.com/office/drawing/2014/main" id="{2AF6316C-DEC2-478C-94C0-1876726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HMI Tank</a:t>
            </a:r>
          </a:p>
        </p:txBody>
      </p:sp>
      <p:sp>
        <p:nvSpPr>
          <p:cNvPr id="2" name="appendix-text-18">
            <a:extLst xmlns:a="http://schemas.openxmlformats.org/drawingml/2006/main">
              <a:ext uri="{FF2B5EF4-FFF2-40B4-BE49-F238E27FC236}">
                <a16:creationId xmlns:a16="http://schemas.microsoft.com/office/drawing/2014/main" id="{69D9CC76-0764-460A-B08F-A12E3EF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Niveles, movimientos y conciliación de combustible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1E6F3-1C53-4C2F-A47F-AA18454F12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c9bd513e84435"/>
          <a:stretch xmlns:a="http://schemas.openxmlformats.org/drawingml/2006/main"/>
        </p:blipFill>
        <p:spPr>
          <a:xfrm xmlns:a="http://schemas.openxmlformats.org/drawingml/2006/main">
            <a:off x="3250161" y="1885950"/>
            <a:ext cx="5691678" cy="4152900"/>
          </a:xfrm>
          <a:prstGeom xmlns:a="http://schemas.openxmlformats.org/drawingml/2006/main" prst="rect">
            <a:avLst/>
          </a:prstGeom>
        </p:spPr>
      </p:pic>
      <p:sp>
        <p:nvSpPr>
          <p:cNvPr id="4" name="appendix-text-19">
            <a:extLst xmlns:a="http://schemas.openxmlformats.org/drawingml/2006/main">
              <a:ext uri="{FF2B5EF4-FFF2-40B4-BE49-F238E27FC236}">
                <a16:creationId xmlns:a16="http://schemas.microsoft.com/office/drawing/2014/main" id="{B215D9E8-91AC-448B-8A5F-2FA74AA0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Interfaz original funcionando con datos 100% sintéticos</a:t>
            </a:r>
          </a:p>
        </p:txBody>
      </p:sp>
      <p:sp>
        <p:nvSpPr>
          <p:cNvPr id="5" name="appendix-text-20">
            <a:extLst xmlns:a="http://schemas.openxmlformats.org/drawingml/2006/main">
              <a:ext uri="{FF2B5EF4-FFF2-40B4-BE49-F238E27FC236}">
                <a16:creationId xmlns:a16="http://schemas.microsoft.com/office/drawing/2014/main" id="{C35FEFB6-E7CC-4541-9FE0-9D2B9EE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46569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ducation-text-1">
            <a:extLst xmlns:a="http://schemas.openxmlformats.org/drawingml/2006/main">
              <a:ext uri="{FF2B5EF4-FFF2-40B4-BE49-F238E27FC236}">
                <a16:creationId xmlns:a16="http://schemas.microsoft.com/office/drawing/2014/main" id="{4B73C685-2362-4294-8082-3CDAB32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Formación SENA</a:t>
            </a:r>
          </a:p>
        </p:txBody>
      </p:sp>
      <p:sp>
        <p:nvSpPr>
          <p:cNvPr id="2" name="education-text-2">
            <a:extLst xmlns:a="http://schemas.openxmlformats.org/drawingml/2006/main">
              <a:ext uri="{FF2B5EF4-FFF2-40B4-BE49-F238E27FC236}">
                <a16:creationId xmlns:a16="http://schemas.microsoft.com/office/drawing/2014/main" id="{703C2C8E-BEEC-408C-B8DC-E2C370B6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Estudios técnicos y tecnológicos</a:t>
            </a:r>
          </a:p>
        </p:txBody>
      </p:sp>
      <p:sp>
        <p:nvSpPr>
          <p:cNvPr id="3" name="education-text-3">
            <a:extLst xmlns:a="http://schemas.openxmlformats.org/drawingml/2006/main">
              <a:ext uri="{FF2B5EF4-FFF2-40B4-BE49-F238E27FC236}">
                <a16:creationId xmlns:a16="http://schemas.microsoft.com/office/drawing/2014/main" id="{BFDB4AC4-FBEB-4650-8505-5ECDC3DD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Finalizado</a:t>
            </a:r>
          </a:p>
        </p:txBody>
      </p:sp>
      <p:sp>
        <p:nvSpPr>
          <p:cNvPr id="4" name="education-text-4">
            <a:extLst xmlns:a="http://schemas.openxmlformats.org/drawingml/2006/main">
              <a:ext uri="{FF2B5EF4-FFF2-40B4-BE49-F238E27FC236}">
                <a16:creationId xmlns:a16="http://schemas.microsoft.com/office/drawing/2014/main" id="{C92BCBF9-784A-4B28-B2C6-3F42A5C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Técnico en Programación de Aplicaciones</a:t>
            </a:r>
          </a:p>
          <a:p xmlns:a="http://schemas.openxmlformats.org/drawingml/2006/main">
            <a:pPr algn="l">
              <a:defRPr sz="255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para Dispositivos Móviles</a:t>
            </a:r>
          </a:p>
        </p:txBody>
      </p:sp>
      <p:sp>
        <p:nvSpPr>
          <p:cNvPr id="5" name="education-text-5">
            <a:extLst xmlns:a="http://schemas.openxmlformats.org/drawingml/2006/main">
              <a:ext uri="{FF2B5EF4-FFF2-40B4-BE49-F238E27FC236}">
                <a16:creationId xmlns:a16="http://schemas.microsoft.com/office/drawing/2014/main" id="{1AC61D9D-A379-4A4D-AFBE-9FC8C6D2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SENA · Octubre 2021 – octubre 2023</a:t>
            </a:r>
          </a:p>
        </p:txBody>
      </p:sp>
      <p:sp>
        <p:nvSpPr>
          <p:cNvPr id="6" name="education-text-6">
            <a:extLst xmlns:a="http://schemas.openxmlformats.org/drawingml/2006/main">
              <a:ext uri="{FF2B5EF4-FFF2-40B4-BE49-F238E27FC236}">
                <a16:creationId xmlns:a16="http://schemas.microsoft.com/office/drawing/2014/main" id="{1E3ABD57-AC99-4EF3-B276-635E1A3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37C7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7C76"/>
                </a:solidFill>
                <a:latin typeface="Arial"/>
                <a:ea typeface="Arial"/>
                <a:cs typeface="Arial"/>
              </a:rPr>
              <a:t>En curso</a:t>
            </a:r>
          </a:p>
        </p:txBody>
      </p:sp>
      <p:sp>
        <p:nvSpPr>
          <p:cNvPr id="7" name="education-text-7">
            <a:extLst xmlns:a="http://schemas.openxmlformats.org/drawingml/2006/main">
              <a:ext uri="{FF2B5EF4-FFF2-40B4-BE49-F238E27FC236}">
                <a16:creationId xmlns:a16="http://schemas.microsoft.com/office/drawing/2014/main" id="{A6EF6C98-B934-413D-882C-03D81FC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D29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D292E"/>
                </a:solidFill>
                <a:latin typeface="Arial"/>
                <a:ea typeface="Arial"/>
                <a:cs typeface="Arial"/>
              </a:rPr>
              <a:t>Tecnología en Análisis y Desarrollo de Software</a:t>
            </a:r>
          </a:p>
        </p:txBody>
      </p:sp>
      <p:sp>
        <p:nvSpPr>
          <p:cNvPr id="8" name="education-text-8">
            <a:extLst xmlns:a="http://schemas.openxmlformats.org/drawingml/2006/main">
              <a:ext uri="{FF2B5EF4-FFF2-40B4-BE49-F238E27FC236}">
                <a16:creationId xmlns:a16="http://schemas.microsoft.com/office/drawing/2014/main" id="{8BCBA81D-06EC-4203-99B8-43D09651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SENA · Abril 2025 – en curso</a:t>
            </a:r>
          </a:p>
        </p:txBody>
      </p:sp>
      <p:sp>
        <p:nvSpPr>
          <p:cNvPr id="9" name="education-text-9">
            <a:extLst xmlns:a="http://schemas.openxmlformats.org/drawingml/2006/main">
              <a:ext uri="{FF2B5EF4-FFF2-40B4-BE49-F238E27FC236}">
                <a16:creationId xmlns:a16="http://schemas.microsoft.com/office/drawing/2014/main" id="{D7F22647-E0A0-4D63-BC1C-7D01562E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0636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3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3374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2026-10-14T03:13:01.6030000Z</dcterms:created>
  <dcterms:modified xsi:type="dcterms:W3CDTF">2026-10-14T03:13:01.6030000Z</dcterms:modified>
</coreProperties>
</file>