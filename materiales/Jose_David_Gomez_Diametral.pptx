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slide7.xml" ContentType="application/vnd.openxmlformats-officedocument.presentationml.slide+xml"/>
  <Override PartName="/ppt/slides/charts/chart2.xml" ContentType="application/vnd.openxmlformats-officedocument.drawingml.chart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charts/chart3.xml" ContentType="application/vnd.openxmlformats-officedocument.drawingml.chart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5c85ae09b864d73" /><Relationship Type="http://schemas.openxmlformats.org/officeDocument/2006/relationships/extended-properties" Target="/docProps/app.xml" Id="R15394c1c7aad4adf" /><Relationship Type="http://schemas.openxmlformats.org/officeDocument/2006/relationships/officeDocument" Target="/ppt/presentation.xml" Id="R2eeb47d7055b4b6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2417724679e43ae"/>
  </p:sldMasterIdLst>
  <p:sldIdLst>
    <p:sldId xmlns:r="http://schemas.openxmlformats.org/officeDocument/2006/relationships" id="256" r:id="R0d5a77deffe94144"/>
    <p:sldId xmlns:r="http://schemas.openxmlformats.org/officeDocument/2006/relationships" id="257" r:id="Rb5144a83c0fb42b1"/>
    <p:sldId xmlns:r="http://schemas.openxmlformats.org/officeDocument/2006/relationships" id="258" r:id="Rbc683572738f4a36"/>
    <p:sldId xmlns:r="http://schemas.openxmlformats.org/officeDocument/2006/relationships" id="259" r:id="R212f26cda77c4ab8"/>
    <p:sldId xmlns:r="http://schemas.openxmlformats.org/officeDocument/2006/relationships" id="260" r:id="Rb64e8e6557a542e8"/>
    <p:sldId xmlns:r="http://schemas.openxmlformats.org/officeDocument/2006/relationships" id="261" r:id="R98307d61d2194d89"/>
    <p:sldId xmlns:r="http://schemas.openxmlformats.org/officeDocument/2006/relationships" id="262" r:id="R307a96c8403748d8"/>
    <p:sldId xmlns:r="http://schemas.openxmlformats.org/officeDocument/2006/relationships" id="263" r:id="Rf632ab2879ea43e8"/>
    <p:sldId xmlns:r="http://schemas.openxmlformats.org/officeDocument/2006/relationships" id="264" r:id="R9b922101b4934c2a"/>
    <p:sldId xmlns:r="http://schemas.openxmlformats.org/officeDocument/2006/relationships" id="265" r:id="Rbeb10830247e4d61"/>
    <p:sldId xmlns:r="http://schemas.openxmlformats.org/officeDocument/2006/relationships" id="266" r:id="R3f2feaf9790e4134"/>
    <p:sldId xmlns:r="http://schemas.openxmlformats.org/officeDocument/2006/relationships" id="267" r:id="R17d8dad792de45e8"/>
    <p:sldId xmlns:r="http://schemas.openxmlformats.org/officeDocument/2006/relationships" id="268" r:id="Rdc53d74c870b4e8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b935bbabed24bb9" /><Relationship Type="http://schemas.openxmlformats.org/officeDocument/2006/relationships/slideMaster" Target="/ppt/slideMasters/slideMaster1.xml" Id="R62417724679e43ae" /><Relationship Type="http://schemas.openxmlformats.org/officeDocument/2006/relationships/presProps" Target="/ppt/presProps.xml" Id="Rc2a08abaed944cd1" /><Relationship Type="http://schemas.openxmlformats.org/officeDocument/2006/relationships/tableStyles" Target="/ppt/tableStyles.xml" Id="Rf4e12b4357ac422f" /><Relationship Type="http://schemas.openxmlformats.org/officeDocument/2006/relationships/slide" Target="/ppt/slides/slide1.xml" Id="R0d5a77deffe94144" /><Relationship Type="http://schemas.openxmlformats.org/officeDocument/2006/relationships/slide" Target="/ppt/slides/slide2.xml" Id="Rb5144a83c0fb42b1" /><Relationship Type="http://schemas.openxmlformats.org/officeDocument/2006/relationships/slide" Target="/ppt/slides/slide3.xml" Id="Rbc683572738f4a36" /><Relationship Type="http://schemas.openxmlformats.org/officeDocument/2006/relationships/slide" Target="/ppt/slides/slide4.xml" Id="R212f26cda77c4ab8" /><Relationship Type="http://schemas.openxmlformats.org/officeDocument/2006/relationships/slide" Target="/ppt/slides/slide5.xml" Id="Rb64e8e6557a542e8" /><Relationship Type="http://schemas.openxmlformats.org/officeDocument/2006/relationships/slide" Target="/ppt/slides/slide6.xml" Id="R98307d61d2194d89" /><Relationship Type="http://schemas.openxmlformats.org/officeDocument/2006/relationships/slide" Target="/ppt/slides/slide7.xml" Id="R307a96c8403748d8" /><Relationship Type="http://schemas.openxmlformats.org/officeDocument/2006/relationships/slide" Target="/ppt/slides/slide8.xml" Id="Rf632ab2879ea43e8" /><Relationship Type="http://schemas.openxmlformats.org/officeDocument/2006/relationships/slide" Target="/ppt/slides/slide9.xml" Id="R9b922101b4934c2a" /><Relationship Type="http://schemas.openxmlformats.org/officeDocument/2006/relationships/slide" Target="/ppt/slides/slide10.xml" Id="Rbeb10830247e4d61" /><Relationship Type="http://schemas.openxmlformats.org/officeDocument/2006/relationships/slide" Target="/ppt/slides/slide11.xml" Id="R3f2feaf9790e4134" /><Relationship Type="http://schemas.openxmlformats.org/officeDocument/2006/relationships/slide" Target="/ppt/slides/slide12.xml" Id="R17d8dad792de45e8" /><Relationship Type="http://schemas.openxmlformats.org/officeDocument/2006/relationships/slide" Target="/ppt/slides/slide13.xml" Id="Rdc53d74c870b4e87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a7c2f661fb3485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fb3c86693fb4b0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75e4f58764d421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b5c961254d249a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9a3cd18bd174d9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5b98a4dcd4b4dc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04C37E9-B2B4-4E54-82BA-2A5D4D7C27B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6D151C95-62EA-44AA-B720-BF7DD1EDE82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E8D68DC3-7CBD-49CF-934B-E3683575F4C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63BCDB7-E8DA-4F7A-85A1-C06BB17EBD9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C2019C5F-D21A-491F-B3BF-54DED9318FB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E75DFBEE-8AAC-4192-921F-901B5FDC6C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28DE6F34-214A-4846-B167-707C507B316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4DD068BA-5082-4137-9C0E-C54C8F100C9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109D0E2-69C7-4E8C-855B-5F2D934B68D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BF780B5-24C9-4FA8-9393-BE345755151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b027e5529e24ee8" /><Relationship Type="http://schemas.openxmlformats.org/officeDocument/2006/relationships/slideLayout" Target="/ppt/slideLayouts/slideLayout1.xml" Id="R8396743ac22446ec" /><Relationship Type="http://schemas.openxmlformats.org/officeDocument/2006/relationships/slideLayout" Target="/ppt/slideLayouts/slideLayout2.xml" Id="Rb616ef2eb0ea4661" /><Relationship Type="http://schemas.openxmlformats.org/officeDocument/2006/relationships/slideLayout" Target="/ppt/slideLayouts/slideLayout3.xml" Id="R3c792b45038e40d3" /><Relationship Type="http://schemas.openxmlformats.org/officeDocument/2006/relationships/slideLayout" Target="/ppt/slideLayouts/slideLayout4.xml" Id="R0d4e5aa8d0ac4009" /><Relationship Type="http://schemas.openxmlformats.org/officeDocument/2006/relationships/slideLayout" Target="/ppt/slideLayouts/slideLayout5.xml" Id="Raa115be68e31411f" /><Relationship Type="http://schemas.openxmlformats.org/officeDocument/2006/relationships/slideLayout" Target="/ppt/slideLayouts/slideLayout6.xml" Id="R332dd0b3261641c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396743ac22446ec"/>
    <p:sldLayoutId xmlns:r="http://schemas.openxmlformats.org/officeDocument/2006/relationships" id="2147483650" r:id="Rb616ef2eb0ea4661"/>
    <p:sldLayoutId xmlns:r="http://schemas.openxmlformats.org/officeDocument/2006/relationships" id="2147483651" r:id="R3c792b45038e40d3"/>
    <p:sldLayoutId xmlns:r="http://schemas.openxmlformats.org/officeDocument/2006/relationships" id="2147483652" r:id="R0d4e5aa8d0ac4009"/>
    <p:sldLayoutId xmlns:r="http://schemas.openxmlformats.org/officeDocument/2006/relationships" id="2147483653" r:id="Raa115be68e31411f"/>
    <p:sldLayoutId xmlns:r="http://schemas.openxmlformats.org/officeDocument/2006/relationships" id="2147483654" r:id="R332dd0b3261641c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b5e326012f14d7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1f64383aac64db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22bf34d3e4e49f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54aa310d13c47f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060a29889074cd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e7cb678e0624212" /><Relationship Type="http://schemas.openxmlformats.org/officeDocument/2006/relationships/chart" Target="/ppt/slides/charts/chart1.xml" Id="Rd59bd062cc5249f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940eb4ac4644010" /><Relationship Type="http://schemas.openxmlformats.org/officeDocument/2006/relationships/chart" Target="/ppt/slides/charts/chart2.xml" Id="Rdd4322e14e134bb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958b92af8304fd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341f3284f6a429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313072385ba4f15" /><Relationship Type="http://schemas.openxmlformats.org/officeDocument/2006/relationships/chart" Target="/ppt/slides/charts/chart3.xml" Id="R54eaae22bcef440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af2d56d6c7a456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f290c5f404a4c6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12a0ecb69b04787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Cantidad</c:v>
          </c:tx>
          <c:spPr>
            <a:solidFill xmlns:a="http://schemas.openxmlformats.org/drawingml/2006/main">
              <a:srgbClr val="137C76"/>
            </a:solidFill>
          </c:spPr>
          <c:invertIfNegative val="0"/>
          <c:cat>
            <c:strRef>
              <c:f>'Chart Data'!$A$2:$A$3</c:f>
              <c:strCache>
                <c:ptCount val="2"/>
                <c:pt idx="0">
                  <c:v>Inspecciones</c:v>
                </c:pt>
                <c:pt idx="1">
                  <c:v>Equipos revisados</c:v>
                </c:pt>
              </c:strCache>
            </c:strRef>
          </c:cat>
          <c:val>
            <c:numRef>
              <c:f>'Chart Data'!$B$2:$B$3</c:f>
              <c:numCache>
                <c:formatCode>#,##0</c:formatCode>
                <c:ptCount val="2"/>
                <c:pt idx="0">
                  <c:v>42</c:v>
                </c:pt>
                <c:pt idx="1">
                  <c:v>24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800" b="1">
                  <a:solidFill>
                    <a:srgbClr val="0D292E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2DDD7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0D292E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48"/>
          <c:min val="0"/>
        </c:scaling>
        <c:delete val="0"/>
        <c:axPos val="l"/>
        <c:majorGridlines>
          <c:spPr>
            <a:ln xmlns:a="http://schemas.openxmlformats.org/drawingml/2006/main" w="7620">
              <a:solidFill>
                <a:srgbClr val="D2DDD7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500">
                    <a:solidFill>
                      <a:srgbClr val="506367"/>
                    </a:solidFill>
                    <a:latin typeface="Arial"/>
                    <a:ea typeface="Arial"/>
                    <a:cs typeface="Arial"/>
                  </a:rPr>
                  <a:t>Cantidad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solidFill>
                    <a:srgbClr val="506367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#,##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6F3EB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6F3EB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Ingreso</c:v>
          </c:tx>
          <c:spPr>
            <a:solidFill xmlns:a="http://schemas.openxmlformats.org/drawingml/2006/main">
              <a:srgbClr val="137C76"/>
            </a:solidFill>
          </c:spPr>
          <c:invertIfNegative val="0"/>
          <c:cat>
            <c:strRef>
              <c:f>'Chart Data'!$A$2:$A$3</c:f>
              <c:strCache>
                <c:ptCount val="2"/>
                <c:pt idx="0">
                  <c:v>TFL9901</c:v>
                </c:pt>
                <c:pt idx="1">
                  <c:v>TFL9902</c:v>
                </c:pt>
              </c:strCache>
            </c:strRef>
          </c:cat>
          <c:val>
            <c:numRef>
              <c:f>'Chart Data'!$B$2:$B$3</c:f>
              <c:numCache>
                <c:formatCode>#,##0</c:formatCode>
                <c:ptCount val="2"/>
                <c:pt idx="0">
                  <c:v>32219</c:v>
                </c:pt>
                <c:pt idx="1">
                  <c:v>35991</c:v>
                </c:pt>
              </c:numCache>
            </c:numRef>
          </c:val>
        </c:ser>
        <c:ser>
          <c:idx val="1"/>
          <c:order val="1"/>
          <c:tx>
            <c:v>Entrega</c:v>
          </c:tx>
          <c:spPr>
            <a:solidFill xmlns:a="http://schemas.openxmlformats.org/drawingml/2006/main">
              <a:srgbClr val="759E90"/>
            </a:solidFill>
          </c:spPr>
          <c:invertIfNegative val="0"/>
          <c:cat>
            <c:strRef>
              <c:f>'Chart Data'!$C$2:$C$3</c:f>
              <c:strCache>
                <c:ptCount val="2"/>
                <c:pt idx="0">
                  <c:v>TFL9901</c:v>
                </c:pt>
                <c:pt idx="1">
                  <c:v>TFL9902</c:v>
                </c:pt>
              </c:strCache>
            </c:strRef>
          </c:cat>
          <c:val>
            <c:numRef>
              <c:f>'Chart Data'!$D$2:$D$3</c:f>
              <c:numCache>
                <c:formatCode>#,##0</c:formatCode>
                <c:ptCount val="2"/>
                <c:pt idx="0">
                  <c:v>29699</c:v>
                </c:pt>
                <c:pt idx="1">
                  <c:v>33561</c:v>
                </c:pt>
              </c:numCache>
            </c:numRef>
          </c:val>
        </c:ser>
        <c:dLbls>
          <c:numFmt formatCode="#,##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solidFill>
                    <a:srgbClr val="0D292E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2DDD7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0D292E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7620">
              <a:solidFill>
                <a:srgbClr val="D2DDD7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500">
                    <a:solidFill>
                      <a:srgbClr val="506367"/>
                    </a:solidFill>
                    <a:latin typeface="Arial"/>
                    <a:ea typeface="Arial"/>
                    <a:cs typeface="Arial"/>
                  </a:rPr>
                  <a:t>Litros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solidFill>
                    <a:srgbClr val="506367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#,##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6F3EB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725">
              <a:solidFill>
                <a:srgbClr val="0D292E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6F3EB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Medido</c:v>
          </c:tx>
          <c:spPr>
            <a:ln xmlns:a="http://schemas.openxmlformats.org/drawingml/2006/main" w="28575">
              <a:solidFill>
                <a:srgbClr val="137C76"/>
              </a:solidFill>
            </a:ln>
          </c:spPr>
          <c:marker>
            <c:symbol val="circle"/>
            <c:size val="6"/>
            <c:spPr>
              <a:solidFill xmlns:a="http://schemas.openxmlformats.org/drawingml/2006/main">
                <a:srgbClr val="137C76"/>
              </a:solidFill>
            </c:spPr>
          </c:marker>
          <c:cat>
            <c:strRef>
              <c:f>'Chart Data'!$A$2:$A$9</c:f>
              <c:strCache>
                <c:ptCount val="8"/>
                <c:pt idx="0">
                  <c:v>14 abr</c:v>
                </c:pt>
                <c:pt idx="1">
                  <c:v>15 abr</c:v>
                </c:pt>
                <c:pt idx="2">
                  <c:v>16 abr</c:v>
                </c:pt>
                <c:pt idx="3">
                  <c:v>17 abr</c:v>
                </c:pt>
                <c:pt idx="4">
                  <c:v>18 abr</c:v>
                </c:pt>
                <c:pt idx="5">
                  <c:v>19 abr</c:v>
                </c:pt>
                <c:pt idx="6">
                  <c:v>20 abr</c:v>
                </c:pt>
                <c:pt idx="7">
                  <c:v>21 abr</c:v>
                </c:pt>
              </c:strCache>
            </c:strRef>
          </c:cat>
          <c:val>
            <c:numRef>
              <c:f>'Chart Data'!$B$2:$B$9</c:f>
              <c:numCache>
                <c:formatCode>#,##0</c:formatCode>
                <c:ptCount val="8"/>
                <c:pt idx="0">
                  <c:v>305600</c:v>
                </c:pt>
                <c:pt idx="1">
                  <c:v>306400</c:v>
                </c:pt>
                <c:pt idx="2">
                  <c:v>307200</c:v>
                </c:pt>
                <c:pt idx="3">
                  <c:v>308000</c:v>
                </c:pt>
                <c:pt idx="4">
                  <c:v>308800</c:v>
                </c:pt>
                <c:pt idx="5">
                  <c:v>309180</c:v>
                </c:pt>
                <c:pt idx="6">
                  <c:v>309980</c:v>
                </c:pt>
                <c:pt idx="7">
                  <c:v>310780</c:v>
                </c:pt>
              </c:numCache>
            </c:numRef>
          </c:val>
        </c:ser>
        <c:ser>
          <c:idx val="1"/>
          <c:order val="1"/>
          <c:tx>
            <c:v>Calculado</c:v>
          </c:tx>
          <c:spPr>
            <a:ln xmlns:a="http://schemas.openxmlformats.org/drawingml/2006/main" w="28575">
              <a:solidFill>
                <a:srgbClr val="B37C42"/>
              </a:solidFill>
            </a:ln>
          </c:spPr>
          <c:marker>
            <c:symbol val="square"/>
            <c:size val="6"/>
            <c:spPr>
              <a:solidFill xmlns:a="http://schemas.openxmlformats.org/drawingml/2006/main">
                <a:srgbClr val="B37C42"/>
              </a:solidFill>
            </c:spPr>
          </c:marker>
          <c:cat>
            <c:strRef>
              <c:f>'Chart Data'!$C$2:$C$9</c:f>
              <c:strCache>
                <c:ptCount val="8"/>
                <c:pt idx="0">
                  <c:v>14 abr</c:v>
                </c:pt>
                <c:pt idx="1">
                  <c:v>15 abr</c:v>
                </c:pt>
                <c:pt idx="2">
                  <c:v>16 abr</c:v>
                </c:pt>
                <c:pt idx="3">
                  <c:v>17 abr</c:v>
                </c:pt>
                <c:pt idx="4">
                  <c:v>18 abr</c:v>
                </c:pt>
                <c:pt idx="5">
                  <c:v>19 abr</c:v>
                </c:pt>
                <c:pt idx="6">
                  <c:v>20 abr</c:v>
                </c:pt>
                <c:pt idx="7">
                  <c:v>21 abr</c:v>
                </c:pt>
              </c:strCache>
            </c:strRef>
          </c:cat>
          <c:val>
            <c:numRef>
              <c:f>'Chart Data'!$D$2:$D$9</c:f>
              <c:numCache>
                <c:formatCode>#,##0</c:formatCode>
                <c:ptCount val="8"/>
                <c:pt idx="0">
                  <c:v>305600</c:v>
                </c:pt>
                <c:pt idx="1">
                  <c:v>306400</c:v>
                </c:pt>
                <c:pt idx="2">
                  <c:v>307200</c:v>
                </c:pt>
                <c:pt idx="3">
                  <c:v>308000</c:v>
                </c:pt>
                <c:pt idx="4">
                  <c:v>308800</c:v>
                </c:pt>
                <c:pt idx="5">
                  <c:v>309600</c:v>
                </c:pt>
                <c:pt idx="6">
                  <c:v>310400</c:v>
                </c:pt>
                <c:pt idx="7">
                  <c:v>311200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2DDD7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0D292E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312000"/>
          <c:min val="305000"/>
        </c:scaling>
        <c:delete val="0"/>
        <c:axPos val="l"/>
        <c:majorGridlines>
          <c:spPr>
            <a:ln xmlns:a="http://schemas.openxmlformats.org/drawingml/2006/main" w="7620">
              <a:solidFill>
                <a:srgbClr val="D2DDD7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500">
                    <a:solidFill>
                      <a:srgbClr val="506367"/>
                    </a:solidFill>
                    <a:latin typeface="Arial"/>
                    <a:ea typeface="Arial"/>
                    <a:cs typeface="Arial"/>
                  </a:rPr>
                  <a:t>Litros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solidFill>
                    <a:srgbClr val="506367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#,##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6F3EB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725">
              <a:solidFill>
                <a:srgbClr val="0D292E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6F3EB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D29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-1">
            <a:extLst xmlns:a="http://schemas.openxmlformats.org/drawingml/2006/main">
              <a:ext uri="{FF2B5EF4-FFF2-40B4-BE49-F238E27FC236}">
                <a16:creationId xmlns:a16="http://schemas.microsoft.com/office/drawing/2014/main" id="{15594551-3AD4-49FE-BF54-43C97434E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52500"/>
            <a:ext cx="10572750" cy="205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585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585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5850" b="1">
                <a:solidFill>
                  <a:srgbClr val="F6F3EB"/>
                </a:solidFill>
                <a:latin typeface="Arial"/>
                <a:ea typeface="Arial"/>
                <a:cs typeface="Arial"/>
              </a:rPr>
              <a:t>José David</a:t>
            </a:r>
          </a:p>
          <a:p xmlns:a="http://schemas.openxmlformats.org/drawingml/2006/main">
            <a:pPr>
              <a:defRPr sz="585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5850" b="1">
                <a:solidFill>
                  <a:srgbClr val="F6F3EB"/>
                </a:solidFill>
                <a:latin typeface="Arial"/>
                <a:ea typeface="Arial"/>
                <a:cs typeface="Arial"/>
              </a:rPr>
              <a:t>Gómez Chamorro</a:t>
            </a:r>
          </a:p>
        </p:txBody>
      </p:sp>
      <p:sp>
        <p:nvSpPr>
          <p:cNvPr id="2" name="text-2">
            <a:extLst xmlns:a="http://schemas.openxmlformats.org/drawingml/2006/main">
              <a:ext uri="{FF2B5EF4-FFF2-40B4-BE49-F238E27FC236}">
                <a16:creationId xmlns:a16="http://schemas.microsoft.com/office/drawing/2014/main" id="{CFA0B023-9713-43C5-8C89-ACB70D820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52825"/>
            <a:ext cx="10287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600" b="0">
                <a:solidFill>
                  <a:srgbClr val="D8F36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600" b="0">
                <a:solidFill>
                  <a:srgbClr val="D8F36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D8F36A"/>
                </a:solidFill>
                <a:latin typeface="Arial"/>
                <a:ea typeface="Arial"/>
                <a:cs typeface="Arial"/>
              </a:rPr>
              <a:t>Datos, software y operaciones</a:t>
            </a:r>
          </a:p>
        </p:txBody>
      </p:sp>
      <p:sp>
        <p:nvSpPr>
          <p:cNvPr id="3" name="text-3">
            <a:extLst xmlns:a="http://schemas.openxmlformats.org/drawingml/2006/main">
              <a:ext uri="{FF2B5EF4-FFF2-40B4-BE49-F238E27FC236}">
                <a16:creationId xmlns:a16="http://schemas.microsoft.com/office/drawing/2014/main" id="{4BBDE3B7-D0A8-4BBB-9605-9B8843307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33975"/>
            <a:ext cx="9620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A6B7B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A6B7B1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A6B7B1"/>
                </a:solidFill>
                <a:latin typeface="Arial"/>
                <a:ea typeface="Arial"/>
                <a:cs typeface="Arial"/>
              </a:rPr>
              <a:t>Entrevista con Diametral</a:t>
            </a:r>
          </a:p>
          <a:p xmlns:a="http://schemas.openxmlformats.org/drawingml/2006/main">
            <a:pPr>
              <a:defRPr sz="2025" b="0">
                <a:solidFill>
                  <a:srgbClr val="A6B7B1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A6B7B1"/>
                </a:solidFill>
                <a:latin typeface="Arial"/>
                <a:ea typeface="Arial"/>
                <a:cs typeface="Arial"/>
              </a:rPr>
              <a:t>Jueves 15 de octubre de 2026</a:t>
            </a:r>
          </a:p>
        </p:txBody>
      </p:sp>
    </p:spTree>
    <p:extLst>
      <p:ext uri="{BB962C8B-B14F-4D97-AF65-F5344CB8AC3E}">
        <p14:creationId xmlns:p14="http://schemas.microsoft.com/office/powerpoint/2010/main" val="79199944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4">
            <a:extLst xmlns:a="http://schemas.openxmlformats.org/drawingml/2006/main">
              <a:ext uri="{FF2B5EF4-FFF2-40B4-BE49-F238E27FC236}">
                <a16:creationId xmlns:a16="http://schemas.microsoft.com/office/drawing/2014/main" id="{70B55697-1B6E-4431-8BB5-BCBE41C16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600" b="1">
                <a:solidFill>
                  <a:srgbClr val="0D292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600" b="1">
                <a:solidFill>
                  <a:srgbClr val="0D292E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D292E"/>
                </a:solidFill>
                <a:latin typeface="Arial"/>
                <a:ea typeface="Arial"/>
                <a:cs typeface="Arial"/>
              </a:rPr>
              <a:t>Perfil y formación</a:t>
            </a:r>
          </a:p>
        </p:txBody>
      </p:sp>
      <p:sp>
        <p:nvSpPr>
          <p:cNvPr id="2" name="text-5">
            <a:extLst xmlns:a="http://schemas.openxmlformats.org/drawingml/2006/main">
              <a:ext uri="{FF2B5EF4-FFF2-40B4-BE49-F238E27FC236}">
                <a16:creationId xmlns:a16="http://schemas.microsoft.com/office/drawing/2014/main" id="{C335CCBC-87DA-479B-B61C-CA43085F5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86500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500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text-6">
            <a:extLst xmlns:a="http://schemas.openxmlformats.org/drawingml/2006/main">
              <a:ext uri="{FF2B5EF4-FFF2-40B4-BE49-F238E27FC236}">
                <a16:creationId xmlns:a16="http://schemas.microsoft.com/office/drawing/2014/main" id="{1D73D73D-FC69-4860-B9A9-04180AF82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28800"/>
            <a:ext cx="43815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37C7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37C76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37C76"/>
                </a:solidFill>
                <a:latin typeface="Arial"/>
                <a:ea typeface="Arial"/>
                <a:cs typeface="Arial"/>
              </a:rPr>
              <a:t>Ingeniería aplicada</a:t>
            </a:r>
          </a:p>
          <a:p xmlns:a="http://schemas.openxmlformats.org/drawingml/2006/main">
            <a:pPr>
              <a:defRPr sz="3150" b="1">
                <a:solidFill>
                  <a:srgbClr val="137C76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37C76"/>
                </a:solidFill>
                <a:latin typeface="Arial"/>
                <a:ea typeface="Arial"/>
                <a:cs typeface="Arial"/>
              </a:rPr>
              <a:t>a los datos operativos</a:t>
            </a:r>
          </a:p>
        </p:txBody>
      </p:sp>
      <p:sp>
        <p:nvSpPr>
          <p:cNvPr id="4" name="text-7">
            <a:extLst xmlns:a="http://schemas.openxmlformats.org/drawingml/2006/main">
              <a:ext uri="{FF2B5EF4-FFF2-40B4-BE49-F238E27FC236}">
                <a16:creationId xmlns:a16="http://schemas.microsoft.com/office/drawing/2014/main" id="{2F06F91E-65E7-4A48-8E2B-882F3E1B3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57575"/>
            <a:ext cx="4095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0D292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0D292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0D292E"/>
                </a:solidFill>
                <a:latin typeface="Arial"/>
                <a:ea typeface="Arial"/>
                <a:cs typeface="Arial"/>
              </a:rPr>
              <a:t>Experiencia en producción y mantenimiento, investigación naval, análisis de KPIs y desarrollo de software.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6B524B-C5DA-4813-91F5-2A3E72A60EF9}"/>
              </a:ext>
            </a:extLst>
          </p:cNvPr>
          <p:cNvGraphicFramePr/>
          <p:nvPr/>
        </p:nvGraphicFramePr>
        <p:xfrm>
          <a:off xmlns:a="http://schemas.openxmlformats.org/drawingml/2006/main" x="5391150" y="1819275"/>
          <a:ext xmlns:a="http://schemas.openxmlformats.org/drawingml/2006/main" cx="6115050" cy="35433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743200"/>
                <a:gridCol w="3371850"/>
              </a:tblGrid>
              <a:tr h="708660">
                <a:tc>
                  <a:txBody>
                    <a:bodyPr lIns="133350" tIns="114300" rIns="114300" bIns="95250"/>
                    <a:lstStyle/>
                    <a:p>
                      <a:r>
                        <a:rPr sz="1800" b="1">
                          <a:solidFill>
                            <a:srgbClr val="F6F3EB"/>
                          </a:solidFill>
                          <a:latin typeface="Arial"/>
                          <a:ea typeface="Arial"/>
                          <a:cs typeface="Arial"/>
                        </a:rPr>
                        <a:t>Formación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2DDD7"/>
                      </a:solidFill>
                      <a:prstDash val="solid"/>
                    </a:lnL>
                    <a:lnR w="6668">
                      <a:solidFill>
                        <a:srgbClr val="D2DDD7"/>
                      </a:solidFill>
                      <a:prstDash val="solid"/>
                    </a:lnR>
                    <a:lnT w="6668">
                      <a:solidFill>
                        <a:srgbClr val="D2DDD7"/>
                      </a:solidFill>
                      <a:prstDash val="solid"/>
                    </a:lnT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0D292E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800" b="1">
                          <a:solidFill>
                            <a:srgbClr val="F6F3EB"/>
                          </a:solidFill>
                          <a:latin typeface="Arial"/>
                          <a:ea typeface="Arial"/>
                          <a:cs typeface="Arial"/>
                        </a:rPr>
                        <a:t>Institución / periodo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T w="6668">
                      <a:solidFill>
                        <a:srgbClr val="D2DDD7"/>
                      </a:solidFill>
                      <a:prstDash val="solid"/>
                    </a:lnT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0D292E"/>
                    </a:solidFill>
                  </a:tcPr>
                </a:tc>
              </a:tr>
              <a:tr h="708660">
                <a:tc>
                  <a:txBody>
                    <a:bodyPr lIns="133350" tIns="114300" rIns="114300" bIns="95250"/>
                    <a:lstStyle/>
                    <a:p>
                      <a:r>
                        <a:rPr sz="180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Ingeniería Mecatrónica</a:t>
                      </a:r>
                    </a:p>
                    <a:p>
                      <a:r>
                        <a:rPr sz="180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Ingeniería Mecánica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2DDD7"/>
                      </a:solidFill>
                      <a:prstDash val="solid"/>
                    </a:lnL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80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UTB · 2013–2018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</a:tr>
              <a:tr h="708660">
                <a:tc>
                  <a:txBody>
                    <a:bodyPr lIns="133350" tIns="114300" rIns="114300" bIns="95250"/>
                    <a:lstStyle/>
                    <a:p>
                      <a:r>
                        <a:rPr sz="180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MBA y Máster en Big Data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2DDD7"/>
                      </a:solidFill>
                      <a:prstDash val="solid"/>
                    </a:lnL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80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ENEB · 2018–2021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</a:tr>
              <a:tr h="708660">
                <a:tc>
                  <a:txBody>
                    <a:bodyPr lIns="133350" tIns="114300" rIns="114300" bIns="95250"/>
                    <a:lstStyle/>
                    <a:p>
                      <a:r>
                        <a:rPr sz="180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Especialización en</a:t>
                      </a:r>
                    </a:p>
                    <a:p>
                      <a:r>
                        <a:rPr sz="180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Ingeniería de Software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2DDD7"/>
                      </a:solidFill>
                      <a:prstDash val="solid"/>
                    </a:lnL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80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UNIR · 2023–2024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</a:tr>
              <a:tr h="708660">
                <a:tc>
                  <a:txBody>
                    <a:bodyPr lIns="133350" tIns="114300" rIns="114300" bIns="95250"/>
                    <a:lstStyle/>
                    <a:p>
                      <a:r>
                        <a:rPr sz="180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Ingeniería de Software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2DDD7"/>
                      </a:solidFill>
                      <a:prstDash val="solid"/>
                    </a:lnL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80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Universidad de Cartagena</a:t>
                      </a:r>
                    </a:p>
                    <a:p>
                      <a:r>
                        <a:rPr sz="180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En curso según CV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</a:tr>
            </a:tbl>
          </a:graphicData>
        </a:graphic>
      </p:graphicFrame>
      <p:sp>
        <p:nvSpPr>
          <p:cNvPr id="6" name="text-8">
            <a:extLst xmlns:a="http://schemas.openxmlformats.org/drawingml/2006/main">
              <a:ext uri="{FF2B5EF4-FFF2-40B4-BE49-F238E27FC236}">
                <a16:creationId xmlns:a16="http://schemas.microsoft.com/office/drawing/2014/main" id="{FBDE9989-4AA0-4C8B-8DC6-CAD568EBE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48350"/>
            <a:ext cx="1057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Herramientas: Python, Power BI, MySQL, Excel y desarrollo web</a:t>
            </a:r>
          </a:p>
        </p:txBody>
      </p:sp>
    </p:spTree>
    <p:extLst>
      <p:ext uri="{BB962C8B-B14F-4D97-AF65-F5344CB8AC3E}">
        <p14:creationId xmlns:p14="http://schemas.microsoft.com/office/powerpoint/2010/main" val="195271136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-9">
            <a:extLst xmlns:a="http://schemas.openxmlformats.org/drawingml/2006/main">
              <a:ext uri="{FF2B5EF4-FFF2-40B4-BE49-F238E27FC236}">
                <a16:creationId xmlns:a16="http://schemas.microsoft.com/office/drawing/2014/main" id="{5E99ABBF-9924-47FB-9EA1-EF2F0C893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600" b="1">
                <a:solidFill>
                  <a:srgbClr val="0D292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600" b="1">
                <a:solidFill>
                  <a:srgbClr val="0D292E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D292E"/>
                </a:solidFill>
                <a:latin typeface="Arial"/>
                <a:ea typeface="Arial"/>
                <a:cs typeface="Arial"/>
              </a:rPr>
              <a:t>Trayectoria profesional</a:t>
            </a:r>
          </a:p>
        </p:txBody>
      </p:sp>
      <p:sp>
        <p:nvSpPr>
          <p:cNvPr id="2" name="text-10">
            <a:extLst xmlns:a="http://schemas.openxmlformats.org/drawingml/2006/main">
              <a:ext uri="{FF2B5EF4-FFF2-40B4-BE49-F238E27FC236}">
                <a16:creationId xmlns:a16="http://schemas.microsoft.com/office/drawing/2014/main" id="{FEE8DFA4-FBA8-4201-B374-FE107D28F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Producción y mantenimiento como base para el análisis de datos</a:t>
            </a:r>
          </a:p>
        </p:txBody>
      </p:sp>
      <p:sp>
        <p:nvSpPr>
          <p:cNvPr id="3" name="text-11">
            <a:extLst xmlns:a="http://schemas.openxmlformats.org/drawingml/2006/main">
              <a:ext uri="{FF2B5EF4-FFF2-40B4-BE49-F238E27FC236}">
                <a16:creationId xmlns:a16="http://schemas.microsoft.com/office/drawing/2014/main" id="{45EE3560-44C5-4E1D-8970-37DB87DB5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86500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500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DC9A66-ED1E-4F83-803D-B47DD1C12F1C}"/>
              </a:ext>
            </a:extLst>
          </p:cNvPr>
          <p:cNvGraphicFramePr/>
          <p:nvPr/>
        </p:nvGraphicFramePr>
        <p:xfrm>
          <a:off xmlns:a="http://schemas.openxmlformats.org/drawingml/2006/main" x="685800" y="1981200"/>
          <a:ext xmlns:a="http://schemas.openxmlformats.org/drawingml/2006/main" cx="10820400" cy="3648075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457450"/>
                <a:gridCol w="4143375"/>
                <a:gridCol w="4219575"/>
              </a:tblGrid>
              <a:tr h="608013">
                <a:tc>
                  <a:txBody>
                    <a:bodyPr lIns="133350" tIns="114300" rIns="114300" bIns="95250"/>
                    <a:lstStyle/>
                    <a:p>
                      <a:r>
                        <a:rPr sz="1725" b="1">
                          <a:solidFill>
                            <a:srgbClr val="F6F3EB"/>
                          </a:solidFill>
                          <a:latin typeface="Arial"/>
                          <a:ea typeface="Arial"/>
                          <a:cs typeface="Arial"/>
                        </a:rPr>
                        <a:t>Periodo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2DDD7"/>
                      </a:solidFill>
                      <a:prstDash val="solid"/>
                    </a:lnL>
                    <a:lnR w="6668">
                      <a:solidFill>
                        <a:srgbClr val="D2DDD7"/>
                      </a:solidFill>
                      <a:prstDash val="solid"/>
                    </a:lnR>
                    <a:lnT w="6668">
                      <a:solidFill>
                        <a:srgbClr val="D2DDD7"/>
                      </a:solidFill>
                      <a:prstDash val="solid"/>
                    </a:lnT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0D292E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725" b="1">
                          <a:solidFill>
                            <a:srgbClr val="F6F3EB"/>
                          </a:solidFill>
                          <a:latin typeface="Arial"/>
                          <a:ea typeface="Arial"/>
                          <a:cs typeface="Arial"/>
                        </a:rPr>
                        <a:t>Rol y organización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T w="6668">
                      <a:solidFill>
                        <a:srgbClr val="D2DDD7"/>
                      </a:solidFill>
                      <a:prstDash val="solid"/>
                    </a:lnT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0D292E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725" b="1">
                          <a:solidFill>
                            <a:srgbClr val="F6F3EB"/>
                          </a:solidFill>
                          <a:latin typeface="Arial"/>
                          <a:ea typeface="Arial"/>
                          <a:cs typeface="Arial"/>
                        </a:rPr>
                        <a:t>Experiencia relevante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T w="6668">
                      <a:solidFill>
                        <a:srgbClr val="D2DDD7"/>
                      </a:solidFill>
                      <a:prstDash val="solid"/>
                    </a:lnT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0D292E"/>
                    </a:solidFill>
                  </a:tcPr>
                </a:tc>
              </a:tr>
              <a:tr h="608013">
                <a:tc>
                  <a:txBody>
                    <a:bodyPr lIns="133350" tIns="114300" rIns="114300" bIns="95250"/>
                    <a:lstStyle/>
                    <a:p>
                      <a:r>
                        <a:rPr sz="17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Jul. 2017 – abr. 2018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2DDD7"/>
                      </a:solidFill>
                      <a:prstDash val="solid"/>
                    </a:lnL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7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Auxiliar de Producción</a:t>
                      </a:r>
                    </a:p>
                    <a:p>
                      <a:r>
                        <a:rPr sz="17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Biofilm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7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Eficiencia de líneas, inventarios</a:t>
                      </a:r>
                    </a:p>
                    <a:p>
                      <a:r>
                        <a:rPr sz="17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y seguimiento de producto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</a:tr>
              <a:tr h="608013">
                <a:tc>
                  <a:txBody>
                    <a:bodyPr lIns="133350" tIns="114300" rIns="114300" bIns="95250"/>
                    <a:lstStyle/>
                    <a:p>
                      <a:r>
                        <a:rPr sz="17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Oct. 2018 – sep. 2019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2DDD7"/>
                      </a:solidFill>
                      <a:prstDash val="solid"/>
                    </a:lnL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7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Ingeniero Supervisor</a:t>
                      </a:r>
                    </a:p>
                    <a:p>
                      <a:r>
                        <a:rPr sz="17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Stip S.A.S.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7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Mantenimiento, equipos críticos</a:t>
                      </a:r>
                    </a:p>
                    <a:p>
                      <a:r>
                        <a:rPr sz="17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y coordinación de personal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</a:tr>
              <a:tr h="608013">
                <a:tc>
                  <a:txBody>
                    <a:bodyPr lIns="133350" tIns="114300" rIns="114300" bIns="95250"/>
                    <a:lstStyle/>
                    <a:p>
                      <a:r>
                        <a:rPr sz="17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Ago. 2020 – feb. 2021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2DDD7"/>
                      </a:solidFill>
                      <a:prstDash val="solid"/>
                    </a:lnL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7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Operador Pull Roll Stand</a:t>
                      </a:r>
                    </a:p>
                    <a:p>
                      <a:r>
                        <a:rPr sz="17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Taghleef Industries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7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Control de producción</a:t>
                      </a:r>
                    </a:p>
                    <a:p>
                      <a:r>
                        <a:rPr sz="17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y registro en PEM-SAP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</a:tr>
              <a:tr h="608013">
                <a:tc>
                  <a:txBody>
                    <a:bodyPr lIns="133350" tIns="114300" rIns="114300" bIns="95250"/>
                    <a:lstStyle/>
                    <a:p>
                      <a:r>
                        <a:rPr sz="17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Feb. – nov. 2023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2DDD7"/>
                      </a:solidFill>
                      <a:prstDash val="solid"/>
                    </a:lnL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7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Investigador III</a:t>
                      </a:r>
                    </a:p>
                    <a:p>
                      <a:r>
                        <a:rPr sz="17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COTECMAR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7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Investigación naval</a:t>
                      </a:r>
                    </a:p>
                    <a:p>
                      <a:r>
                        <a:rPr sz="17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y desarrollo frontend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</a:tr>
              <a:tr h="608013">
                <a:tc>
                  <a:txBody>
                    <a:bodyPr lIns="133350" tIns="114300" rIns="114300" bIns="95250"/>
                    <a:lstStyle/>
                    <a:p>
                      <a:r>
                        <a:rPr sz="17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Dic. 2023 – actualidad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2DDD7"/>
                      </a:solidFill>
                      <a:prstDash val="solid"/>
                    </a:lnL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7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Analista de Datos y Operaciones</a:t>
                      </a:r>
                    </a:p>
                    <a:p>
                      <a:r>
                        <a:rPr sz="17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Operación minera · empresa confidencial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7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KPIs FMS, Power BI, calidad</a:t>
                      </a:r>
                    </a:p>
                    <a:p>
                      <a:r>
                        <a:rPr sz="17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y automatización con Python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227960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D29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-12">
            <a:extLst xmlns:a="http://schemas.openxmlformats.org/drawingml/2006/main">
              <a:ext uri="{FF2B5EF4-FFF2-40B4-BE49-F238E27FC236}">
                <a16:creationId xmlns:a16="http://schemas.microsoft.com/office/drawing/2014/main" id="{E760DB3A-7896-4388-8F7D-9BBAD2768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60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60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6F3EB"/>
                </a:solidFill>
                <a:latin typeface="Arial"/>
                <a:ea typeface="Arial"/>
                <a:cs typeface="Arial"/>
              </a:rPr>
              <a:t>Analítica en la operación actual</a:t>
            </a:r>
          </a:p>
        </p:txBody>
      </p:sp>
      <p:sp>
        <p:nvSpPr>
          <p:cNvPr id="2" name="text-13">
            <a:extLst xmlns:a="http://schemas.openxmlformats.org/drawingml/2006/main">
              <a:ext uri="{FF2B5EF4-FFF2-40B4-BE49-F238E27FC236}">
                <a16:creationId xmlns:a16="http://schemas.microsoft.com/office/drawing/2014/main" id="{1A8B0B72-8575-42AA-BCA2-AE3C7BC68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86500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 b="0">
                <a:solidFill>
                  <a:srgbClr val="A6B7B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500" b="0">
                <a:solidFill>
                  <a:srgbClr val="A6B7B1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A6B7B1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" name="text-14">
            <a:extLst xmlns:a="http://schemas.openxmlformats.org/drawingml/2006/main">
              <a:ext uri="{FF2B5EF4-FFF2-40B4-BE49-F238E27FC236}">
                <a16:creationId xmlns:a16="http://schemas.microsoft.com/office/drawing/2014/main" id="{11266420-626C-4C5B-B3B8-5E4DED06B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47850"/>
            <a:ext cx="4572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550" b="1">
                <a:solidFill>
                  <a:srgbClr val="D8F36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D8F36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D8F36A"/>
                </a:solidFill>
                <a:latin typeface="Arial"/>
                <a:ea typeface="Arial"/>
                <a:cs typeface="Arial"/>
              </a:rPr>
              <a:t>KPIs de combustible</a:t>
            </a:r>
          </a:p>
        </p:txBody>
      </p:sp>
      <p:sp>
        <p:nvSpPr>
          <p:cNvPr id="4" name="text-15">
            <a:extLst xmlns:a="http://schemas.openxmlformats.org/drawingml/2006/main">
              <a:ext uri="{FF2B5EF4-FFF2-40B4-BE49-F238E27FC236}">
                <a16:creationId xmlns:a16="http://schemas.microsoft.com/office/drawing/2014/main" id="{CF3DD592-5879-4664-A0FF-A044F731A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46101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6F3EB"/>
                </a:solidFill>
                <a:latin typeface="Arial"/>
                <a:ea typeface="Arial"/>
                <a:cs typeface="Arial"/>
              </a:rPr>
              <a:t>Reportes semanales y mensuales de diésel, lubricantes y Burn Rate con Power BI.</a:t>
            </a:r>
          </a:p>
        </p:txBody>
      </p:sp>
      <p:sp>
        <p:nvSpPr>
          <p:cNvPr id="5" name="text-16">
            <a:extLst xmlns:a="http://schemas.openxmlformats.org/drawingml/2006/main">
              <a:ext uri="{FF2B5EF4-FFF2-40B4-BE49-F238E27FC236}">
                <a16:creationId xmlns:a16="http://schemas.microsoft.com/office/drawing/2014/main" id="{2EE9C017-1EEC-4A23-8844-A174DA9D5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847850"/>
            <a:ext cx="53149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550" b="1">
                <a:solidFill>
                  <a:srgbClr val="D8F36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D8F36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D8F36A"/>
                </a:solidFill>
                <a:latin typeface="Arial"/>
                <a:ea typeface="Arial"/>
                <a:cs typeface="Arial"/>
              </a:rPr>
              <a:t>Calidad y trazabilidad</a:t>
            </a:r>
          </a:p>
        </p:txBody>
      </p:sp>
      <p:sp>
        <p:nvSpPr>
          <p:cNvPr id="6" name="text-17">
            <a:extLst xmlns:a="http://schemas.openxmlformats.org/drawingml/2006/main">
              <a:ext uri="{FF2B5EF4-FFF2-40B4-BE49-F238E27FC236}">
                <a16:creationId xmlns:a16="http://schemas.microsoft.com/office/drawing/2014/main" id="{EFD80FAC-F479-4B4F-BF38-B9BE94D14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81250"/>
            <a:ext cx="50482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6F3EB"/>
                </a:solidFill>
                <a:latin typeface="Arial"/>
                <a:ea typeface="Arial"/>
                <a:cs typeface="Arial"/>
              </a:rPr>
              <a:t>Investigación de anomalías y comunicación de hallazgos a responsables operativos.</a:t>
            </a:r>
          </a:p>
        </p:txBody>
      </p:sp>
      <p:sp>
        <p:nvSpPr>
          <p:cNvPr id="7" name="text-18">
            <a:extLst xmlns:a="http://schemas.openxmlformats.org/drawingml/2006/main">
              <a:ext uri="{FF2B5EF4-FFF2-40B4-BE49-F238E27FC236}">
                <a16:creationId xmlns:a16="http://schemas.microsoft.com/office/drawing/2014/main" id="{FC958F28-3FAA-414E-B288-087D123E5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29050"/>
            <a:ext cx="46101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550" b="1">
                <a:solidFill>
                  <a:srgbClr val="D8F36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D8F36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D8F36A"/>
                </a:solidFill>
                <a:latin typeface="Arial"/>
                <a:ea typeface="Arial"/>
                <a:cs typeface="Arial"/>
              </a:rPr>
              <a:t>Datos maestros FMS</a:t>
            </a:r>
          </a:p>
        </p:txBody>
      </p:sp>
      <p:sp>
        <p:nvSpPr>
          <p:cNvPr id="8" name="text-19">
            <a:extLst xmlns:a="http://schemas.openxmlformats.org/drawingml/2006/main">
              <a:ext uri="{FF2B5EF4-FFF2-40B4-BE49-F238E27FC236}">
                <a16:creationId xmlns:a16="http://schemas.microsoft.com/office/drawing/2014/main" id="{4DE3B48E-17F1-4704-A3F3-6CA565135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62450"/>
            <a:ext cx="46101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6F3EB"/>
                </a:solidFill>
                <a:latin typeface="Arial"/>
                <a:ea typeface="Arial"/>
                <a:cs typeface="Arial"/>
              </a:rPr>
              <a:t>Inventario, altas y actualizaciones de equipos, RFID y estados.</a:t>
            </a:r>
          </a:p>
        </p:txBody>
      </p:sp>
      <p:sp>
        <p:nvSpPr>
          <p:cNvPr id="9" name="text-20">
            <a:extLst xmlns:a="http://schemas.openxmlformats.org/drawingml/2006/main">
              <a:ext uri="{FF2B5EF4-FFF2-40B4-BE49-F238E27FC236}">
                <a16:creationId xmlns:a16="http://schemas.microsoft.com/office/drawing/2014/main" id="{3F41E664-C4A0-4D68-A57A-F5D734C1C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29050"/>
            <a:ext cx="53149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550" b="1">
                <a:solidFill>
                  <a:srgbClr val="D8F36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D8F36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D8F36A"/>
                </a:solidFill>
                <a:latin typeface="Arial"/>
                <a:ea typeface="Arial"/>
                <a:cs typeface="Arial"/>
              </a:rPr>
              <a:t>Automatización y pruebas</a:t>
            </a:r>
          </a:p>
        </p:txBody>
      </p:sp>
      <p:sp>
        <p:nvSpPr>
          <p:cNvPr id="10" name="text-21">
            <a:extLst xmlns:a="http://schemas.openxmlformats.org/drawingml/2006/main">
              <a:ext uri="{FF2B5EF4-FFF2-40B4-BE49-F238E27FC236}">
                <a16:creationId xmlns:a16="http://schemas.microsoft.com/office/drawing/2014/main" id="{CAFA81BD-63C2-4567-8C0C-D92FD9A31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62450"/>
            <a:ext cx="5143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6F3EB"/>
                </a:solidFill>
                <a:latin typeface="Arial"/>
                <a:ea typeface="Arial"/>
                <a:cs typeface="Arial"/>
              </a:rPr>
              <a:t>Procesos con Python, seguimiento de reportes de servicio y participación en testing de CMMS.</a:t>
            </a:r>
          </a:p>
        </p:txBody>
      </p:sp>
    </p:spTree>
    <p:extLst>
      <p:ext uri="{BB962C8B-B14F-4D97-AF65-F5344CB8AC3E}">
        <p14:creationId xmlns:p14="http://schemas.microsoft.com/office/powerpoint/2010/main" val="4638883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-22">
            <a:extLst xmlns:a="http://schemas.openxmlformats.org/drawingml/2006/main">
              <a:ext uri="{FF2B5EF4-FFF2-40B4-BE49-F238E27FC236}">
                <a16:creationId xmlns:a16="http://schemas.microsoft.com/office/drawing/2014/main" id="{DFF12233-68EC-45E2-BD31-17159A263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600" b="1">
                <a:solidFill>
                  <a:srgbClr val="0D292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600" b="1">
                <a:solidFill>
                  <a:srgbClr val="0D292E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D292E"/>
                </a:solidFill>
                <a:latin typeface="Arial"/>
                <a:ea typeface="Arial"/>
                <a:cs typeface="Arial"/>
              </a:rPr>
              <a:t>Cinco proyectos, cinco preguntas operativas</a:t>
            </a:r>
          </a:p>
        </p:txBody>
      </p:sp>
      <p:sp>
        <p:nvSpPr>
          <p:cNvPr id="2" name="text-23">
            <a:extLst xmlns:a="http://schemas.openxmlformats.org/drawingml/2006/main">
              <a:ext uri="{FF2B5EF4-FFF2-40B4-BE49-F238E27FC236}">
                <a16:creationId xmlns:a16="http://schemas.microsoft.com/office/drawing/2014/main" id="{F8217B6C-3B1D-426A-BA27-5D88E87F9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86500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500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BBAE92-697D-45F3-9921-0E23989A8207}"/>
              </a:ext>
            </a:extLst>
          </p:cNvPr>
          <p:cNvGraphicFramePr/>
          <p:nvPr/>
        </p:nvGraphicFramePr>
        <p:xfrm>
          <a:off xmlns:a="http://schemas.openxmlformats.org/drawingml/2006/main" x="685800" y="1847850"/>
          <a:ext xmlns:a="http://schemas.openxmlformats.org/drawingml/2006/main" cx="10820400" cy="371475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724150"/>
                <a:gridCol w="4905375"/>
                <a:gridCol w="3190875"/>
              </a:tblGrid>
              <a:tr h="619125">
                <a:tc>
                  <a:txBody>
                    <a:bodyPr lIns="133350" tIns="114300" rIns="114300" bIns="95250"/>
                    <a:lstStyle/>
                    <a:p>
                      <a:r>
                        <a:rPr sz="1875" b="1">
                          <a:solidFill>
                            <a:srgbClr val="F6F3EB"/>
                          </a:solidFill>
                          <a:latin typeface="Arial"/>
                          <a:ea typeface="Arial"/>
                          <a:cs typeface="Arial"/>
                        </a:rPr>
                        <a:t>Proyecto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2DDD7"/>
                      </a:solidFill>
                      <a:prstDash val="solid"/>
                    </a:lnL>
                    <a:lnR w="6668">
                      <a:solidFill>
                        <a:srgbClr val="D2DDD7"/>
                      </a:solidFill>
                      <a:prstDash val="solid"/>
                    </a:lnR>
                    <a:lnT w="6668">
                      <a:solidFill>
                        <a:srgbClr val="D2DDD7"/>
                      </a:solidFill>
                      <a:prstDash val="solid"/>
                    </a:lnT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0D292E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875" b="1">
                          <a:solidFill>
                            <a:srgbClr val="F6F3EB"/>
                          </a:solidFill>
                          <a:latin typeface="Arial"/>
                          <a:ea typeface="Arial"/>
                          <a:cs typeface="Arial"/>
                        </a:rPr>
                        <a:t>Pregunta que ayuda a responder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T w="6668">
                      <a:solidFill>
                        <a:srgbClr val="D2DDD7"/>
                      </a:solidFill>
                      <a:prstDash val="solid"/>
                    </a:lnT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0D292E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875" b="1">
                          <a:solidFill>
                            <a:srgbClr val="F6F3EB"/>
                          </a:solidFill>
                          <a:latin typeface="Arial"/>
                          <a:ea typeface="Arial"/>
                          <a:cs typeface="Arial"/>
                        </a:rPr>
                        <a:t>Resultado disponible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T w="6668">
                      <a:solidFill>
                        <a:srgbClr val="D2DDD7"/>
                      </a:solidFill>
                      <a:prstDash val="solid"/>
                    </a:lnT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0D292E"/>
                    </a:solidFill>
                  </a:tcPr>
                </a:tc>
              </a:tr>
              <a:tr h="619125">
                <a:tc>
                  <a:txBody>
                    <a:bodyPr lIns="133350" tIns="114300" rIns="114300" bIns="95250"/>
                    <a:lstStyle/>
                    <a:p>
                      <a:r>
                        <a:rPr sz="187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Fleet Maintenance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2DDD7"/>
                      </a:solidFill>
                      <a:prstDash val="solid"/>
                    </a:lnL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87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¿Qué equipos se inspeccionaron</a:t>
                      </a:r>
                    </a:p>
                    <a:p>
                      <a:r>
                        <a:rPr sz="187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y qué dispositivos cambiaron?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87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Cobertura y reportes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</a:tr>
              <a:tr h="619125">
                <a:tc>
                  <a:txBody>
                    <a:bodyPr lIns="133350" tIns="114300" rIns="114300" bIns="95250"/>
                    <a:lstStyle/>
                    <a:p>
                      <a:r>
                        <a:rPr sz="187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Intake vs Delivery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2DDD7"/>
                      </a:solidFill>
                      <a:prstDash val="solid"/>
                    </a:lnL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87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¿Cuánto ingresó y cuánto se entregó</a:t>
                      </a:r>
                    </a:p>
                    <a:p>
                      <a:r>
                        <a:rPr sz="187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por nodo y periodo?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87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Conciliación y trazabilidad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</a:tr>
              <a:tr h="619125">
                <a:tc>
                  <a:txBody>
                    <a:bodyPr lIns="133350" tIns="114300" rIns="114300" bIns="95250"/>
                    <a:lstStyle/>
                    <a:p>
                      <a:r>
                        <a:rPr sz="187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Overfill SFL Spy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2DDD7"/>
                      </a:solidFill>
                      <a:prstDash val="solid"/>
                    </a:lnL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87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¿Qué registros superan</a:t>
                      </a:r>
                    </a:p>
                    <a:p>
                      <a:r>
                        <a:rPr sz="187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el límite de llenado seguro?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87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Alertas para revisión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</a:tr>
              <a:tr h="619125">
                <a:tc>
                  <a:txBody>
                    <a:bodyPr lIns="133350" tIns="114300" rIns="114300" bIns="95250"/>
                    <a:lstStyle/>
                    <a:p>
                      <a:r>
                        <a:rPr sz="187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Sweeper and Mop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2DDD7"/>
                      </a:solidFill>
                      <a:prstDash val="solid"/>
                    </a:lnL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87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¿Qué datos presentan incoherencias</a:t>
                      </a:r>
                    </a:p>
                    <a:p>
                      <a:r>
                        <a:rPr sz="187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y qué se debe verificar?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87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Hallazgos y propuestas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</a:tr>
              <a:tr h="619125">
                <a:tc>
                  <a:txBody>
                    <a:bodyPr lIns="133350" tIns="114300" rIns="114300" bIns="95250"/>
                    <a:lstStyle/>
                    <a:p>
                      <a:r>
                        <a:rPr sz="187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HMI Tank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2DDD7"/>
                      </a:solidFill>
                      <a:prstDash val="solid"/>
                    </a:lnL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87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¿Cómo evolucionan los movimientos</a:t>
                      </a:r>
                    </a:p>
                    <a:p>
                      <a:r>
                        <a:rPr sz="187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y las lecturas de los tanques?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87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Balance y tendencias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</a:tr>
            </a:tbl>
          </a:graphicData>
        </a:graphic>
      </p:graphicFrame>
      <p:sp>
        <p:nvSpPr>
          <p:cNvPr id="4" name="text-24">
            <a:extLst xmlns:a="http://schemas.openxmlformats.org/drawingml/2006/main">
              <a:ext uri="{FF2B5EF4-FFF2-40B4-BE49-F238E27FC236}">
                <a16:creationId xmlns:a16="http://schemas.microsoft.com/office/drawing/2014/main" id="{11CA1A19-D4CF-404A-BFFE-8985FD56B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48350"/>
            <a:ext cx="1057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Python para análisis de escritorio. JavaScript para exploración en el navegador</a:t>
            </a:r>
          </a:p>
        </p:txBody>
      </p:sp>
    </p:spTree>
    <p:extLst>
      <p:ext uri="{BB962C8B-B14F-4D97-AF65-F5344CB8AC3E}">
        <p14:creationId xmlns:p14="http://schemas.microsoft.com/office/powerpoint/2010/main" val="198022282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-25">
            <a:extLst xmlns:a="http://schemas.openxmlformats.org/drawingml/2006/main">
              <a:ext uri="{FF2B5EF4-FFF2-40B4-BE49-F238E27FC236}">
                <a16:creationId xmlns:a16="http://schemas.microsoft.com/office/drawing/2014/main" id="{496C5A8F-6B00-4284-96D6-C5351433B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600" b="1">
                <a:solidFill>
                  <a:srgbClr val="0D292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600" b="1">
                <a:solidFill>
                  <a:srgbClr val="0D292E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D292E"/>
                </a:solidFill>
                <a:latin typeface="Arial"/>
                <a:ea typeface="Arial"/>
                <a:cs typeface="Arial"/>
              </a:rPr>
              <a:t>Fleet Maintenance</a:t>
            </a:r>
          </a:p>
        </p:txBody>
      </p:sp>
      <p:sp>
        <p:nvSpPr>
          <p:cNvPr id="2" name="text-26">
            <a:extLst xmlns:a="http://schemas.openxmlformats.org/drawingml/2006/main">
              <a:ext uri="{FF2B5EF4-FFF2-40B4-BE49-F238E27FC236}">
                <a16:creationId xmlns:a16="http://schemas.microsoft.com/office/drawing/2014/main" id="{9FDB0FC1-77A6-4128-91B5-862E839E2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Inspecciones y movimientos de TAG / SMU</a:t>
            </a:r>
          </a:p>
        </p:txBody>
      </p:sp>
      <p:sp>
        <p:nvSpPr>
          <p:cNvPr id="3" name="text-27">
            <a:extLst xmlns:a="http://schemas.openxmlformats.org/drawingml/2006/main">
              <a:ext uri="{FF2B5EF4-FFF2-40B4-BE49-F238E27FC236}">
                <a16:creationId xmlns:a16="http://schemas.microsoft.com/office/drawing/2014/main" id="{D7CA073B-7249-4264-BEF9-031D45C87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86500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500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4" name="text-28">
            <a:extLst xmlns:a="http://schemas.openxmlformats.org/drawingml/2006/main">
              <a:ext uri="{FF2B5EF4-FFF2-40B4-BE49-F238E27FC236}">
                <a16:creationId xmlns:a16="http://schemas.microsoft.com/office/drawing/2014/main" id="{42EB1586-5ADC-4F3A-85AC-B75FDADAB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352425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1">
                <a:solidFill>
                  <a:srgbClr val="137C7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75" b="1">
                <a:solidFill>
                  <a:srgbClr val="137C76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137C76"/>
                </a:solidFill>
                <a:latin typeface="Arial"/>
                <a:ea typeface="Arial"/>
                <a:cs typeface="Arial"/>
              </a:rPr>
              <a:t>Formulario Excel</a:t>
            </a:r>
          </a:p>
          <a:p xmlns:a="http://schemas.openxmlformats.org/drawingml/2006/main">
            <a:pPr>
              <a:defRPr sz="2475" b="1">
                <a:solidFill>
                  <a:srgbClr val="137C76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137C76"/>
                </a:solidFill>
                <a:latin typeface="Arial"/>
                <a:ea typeface="Arial"/>
                <a:cs typeface="Arial"/>
              </a:rPr>
              <a:t>Base local SQLite</a:t>
            </a:r>
          </a:p>
          <a:p xmlns:a="http://schemas.openxmlformats.org/drawingml/2006/main">
            <a:pPr>
              <a:defRPr sz="2475" b="1">
                <a:solidFill>
                  <a:srgbClr val="137C76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137C76"/>
                </a:solidFill>
                <a:latin typeface="Arial"/>
                <a:ea typeface="Arial"/>
                <a:cs typeface="Arial"/>
              </a:rPr>
              <a:t>Tablero y reporte Excel</a:t>
            </a:r>
          </a:p>
        </p:txBody>
      </p:sp>
      <p:sp>
        <p:nvSpPr>
          <p:cNvPr id="5" name="text-29">
            <a:extLst xmlns:a="http://schemas.openxmlformats.org/drawingml/2006/main">
              <a:ext uri="{FF2B5EF4-FFF2-40B4-BE49-F238E27FC236}">
                <a16:creationId xmlns:a16="http://schemas.microsoft.com/office/drawing/2014/main" id="{82431ACD-2404-4F27-90CC-9A5AB3C01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81475"/>
            <a:ext cx="32194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0D292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0D292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0D292E"/>
                </a:solidFill>
                <a:latin typeface="Arial"/>
                <a:ea typeface="Arial"/>
                <a:cs typeface="Arial"/>
              </a:rPr>
              <a:t>Cuenta equipos distintos con al menos una inspección por mes.</a:t>
            </a:r>
          </a:p>
        </p:txBody>
      </p:sp>
      <p:graphicFrame>
        <p:nvGraphicFramePr>
          <p:cNvPr id="6" name="Chart">
            <a:extLst xmlns:a="http://schemas.openxmlformats.org/drawingml/2006/main">
              <a:ext uri="{FF2B5EF4-FFF2-40B4-BE49-F238E27FC236}">
                <a16:creationId xmlns:a16="http://schemas.microsoft.com/office/drawing/2014/main" id="{CD634524-4740-448B-8B49-C12830227093}"/>
              </a:ext>
            </a:extLst>
          </p:cNvPr>
          <p:cNvGraphicFramePr/>
          <p:nvPr/>
        </p:nvGraphicFramePr>
        <p:xfrm>
          <a:off xmlns:a="http://schemas.openxmlformats.org/drawingml/2006/main" x="4333875" y="2000250"/>
          <a:ext xmlns:a="http://schemas.openxmlformats.org/drawingml/2006/main" cx="7172325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59bd062cc5249fa"/>
          </a:graphicData>
        </a:graphic>
      </p:graphicFrame>
      <p:sp>
        <p:nvSpPr>
          <p:cNvPr id="7" name="text-30">
            <a:extLst xmlns:a="http://schemas.openxmlformats.org/drawingml/2006/main">
              <a:ext uri="{FF2B5EF4-FFF2-40B4-BE49-F238E27FC236}">
                <a16:creationId xmlns:a16="http://schemas.microsoft.com/office/drawing/2014/main" id="{4EE7A6DC-C05B-4DCF-8A96-6DF785D52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48350"/>
            <a:ext cx="1057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Ejemplo sintético: abril de 2025. 24 equipos, 42 inspecciones y 100% de cobertura</a:t>
            </a:r>
          </a:p>
        </p:txBody>
      </p:sp>
    </p:spTree>
    <p:extLst>
      <p:ext uri="{BB962C8B-B14F-4D97-AF65-F5344CB8AC3E}">
        <p14:creationId xmlns:p14="http://schemas.microsoft.com/office/powerpoint/2010/main" val="11638858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31">
            <a:extLst xmlns:a="http://schemas.openxmlformats.org/drawingml/2006/main">
              <a:ext uri="{FF2B5EF4-FFF2-40B4-BE49-F238E27FC236}">
                <a16:creationId xmlns:a16="http://schemas.microsoft.com/office/drawing/2014/main" id="{413F7DE1-5262-47C8-A937-C0A0CEDE9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600" b="1">
                <a:solidFill>
                  <a:srgbClr val="0D292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600" b="1">
                <a:solidFill>
                  <a:srgbClr val="0D292E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D292E"/>
                </a:solidFill>
                <a:latin typeface="Arial"/>
                <a:ea typeface="Arial"/>
                <a:cs typeface="Arial"/>
              </a:rPr>
              <a:t>Intake vs Delivery</a:t>
            </a:r>
          </a:p>
        </p:txBody>
      </p:sp>
      <p:sp>
        <p:nvSpPr>
          <p:cNvPr id="2" name="text-32">
            <a:extLst xmlns:a="http://schemas.openxmlformats.org/drawingml/2006/main">
              <a:ext uri="{FF2B5EF4-FFF2-40B4-BE49-F238E27FC236}">
                <a16:creationId xmlns:a16="http://schemas.microsoft.com/office/drawing/2014/main" id="{31060C72-9213-480F-BCC6-9B287B215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Conciliación por producto, unidad y periodo</a:t>
            </a:r>
          </a:p>
        </p:txBody>
      </p:sp>
      <p:sp>
        <p:nvSpPr>
          <p:cNvPr id="3" name="text-33">
            <a:extLst xmlns:a="http://schemas.openxmlformats.org/drawingml/2006/main">
              <a:ext uri="{FF2B5EF4-FFF2-40B4-BE49-F238E27FC236}">
                <a16:creationId xmlns:a16="http://schemas.microsoft.com/office/drawing/2014/main" id="{93BE9F7C-B77C-467E-9EA4-8339277C8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86500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500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4" name="text-34">
            <a:extLst xmlns:a="http://schemas.openxmlformats.org/drawingml/2006/main">
              <a:ext uri="{FF2B5EF4-FFF2-40B4-BE49-F238E27FC236}">
                <a16:creationId xmlns:a16="http://schemas.microsoft.com/office/drawing/2014/main" id="{02516115-4CBA-48E2-850E-0A52E9AD2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33600"/>
            <a:ext cx="342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625" b="1">
                <a:solidFill>
                  <a:srgbClr val="137C7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625" b="1">
                <a:solidFill>
                  <a:srgbClr val="137C76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37C76"/>
                </a:solidFill>
                <a:latin typeface="Arial"/>
                <a:ea typeface="Arial"/>
                <a:cs typeface="Arial"/>
              </a:rPr>
              <a:t>Ingreso − entrega</a:t>
            </a:r>
          </a:p>
        </p:txBody>
      </p:sp>
      <p:sp>
        <p:nvSpPr>
          <p:cNvPr id="5" name="text-35">
            <a:extLst xmlns:a="http://schemas.openxmlformats.org/drawingml/2006/main">
              <a:ext uri="{FF2B5EF4-FFF2-40B4-BE49-F238E27FC236}">
                <a16:creationId xmlns:a16="http://schemas.microsoft.com/office/drawing/2014/main" id="{86384D8D-6937-4FD2-828B-C24F0DB2D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43225"/>
            <a:ext cx="32385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0D292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0D292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0D292E"/>
                </a:solidFill>
                <a:latin typeface="Arial"/>
                <a:ea typeface="Arial"/>
                <a:cs typeface="Arial"/>
              </a:rPr>
              <a:t>Despachos y transferencias forman un mismo flujo de movimientos.</a:t>
            </a:r>
          </a:p>
        </p:txBody>
      </p:sp>
      <p:sp>
        <p:nvSpPr>
          <p:cNvPr id="6" name="text-36">
            <a:extLst xmlns:a="http://schemas.openxmlformats.org/drawingml/2006/main">
              <a:ext uri="{FF2B5EF4-FFF2-40B4-BE49-F238E27FC236}">
                <a16:creationId xmlns:a16="http://schemas.microsoft.com/office/drawing/2014/main" id="{25F0D538-E7CB-41BF-88CA-E415F7ADD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52950"/>
            <a:ext cx="323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0D292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0D292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0D292E"/>
                </a:solidFill>
                <a:latin typeface="Arial"/>
                <a:ea typeface="Arial"/>
                <a:cs typeface="Arial"/>
              </a:rPr>
              <a:t>El desvío orienta la revisión de registros y medidores.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937F11C7-7D06-45EB-84E5-CA0470CCC591}"/>
              </a:ext>
            </a:extLst>
          </p:cNvPr>
          <p:cNvGraphicFramePr/>
          <p:nvPr/>
        </p:nvGraphicFramePr>
        <p:xfrm>
          <a:off xmlns:a="http://schemas.openxmlformats.org/drawingml/2006/main" x="4429125" y="1971675"/>
          <a:ext xmlns:a="http://schemas.openxmlformats.org/drawingml/2006/main" cx="7077075" cy="34861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d4322e14e134bbe"/>
          </a:graphicData>
        </a:graphic>
      </p:graphicFrame>
      <p:sp>
        <p:nvSpPr>
          <p:cNvPr id="8" name="text-37">
            <a:extLst xmlns:a="http://schemas.openxmlformats.org/drawingml/2006/main">
              <a:ext uri="{FF2B5EF4-FFF2-40B4-BE49-F238E27FC236}">
                <a16:creationId xmlns:a16="http://schemas.microsoft.com/office/drawing/2014/main" id="{8E92C6AD-E18D-4377-97E9-28E638461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48350"/>
            <a:ext cx="1057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Ejemplo sintético. El acumulado muestra desvío desde cero, sin inventario inicial</a:t>
            </a:r>
          </a:p>
        </p:txBody>
      </p:sp>
    </p:spTree>
    <p:extLst>
      <p:ext uri="{BB962C8B-B14F-4D97-AF65-F5344CB8AC3E}">
        <p14:creationId xmlns:p14="http://schemas.microsoft.com/office/powerpoint/2010/main" val="121543486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-38">
            <a:extLst xmlns:a="http://schemas.openxmlformats.org/drawingml/2006/main">
              <a:ext uri="{FF2B5EF4-FFF2-40B4-BE49-F238E27FC236}">
                <a16:creationId xmlns:a16="http://schemas.microsoft.com/office/drawing/2014/main" id="{577D2D5D-623F-4C5D-8339-9BAA5AA89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600" b="1">
                <a:solidFill>
                  <a:srgbClr val="0D292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600" b="1">
                <a:solidFill>
                  <a:srgbClr val="0D292E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D292E"/>
                </a:solidFill>
                <a:latin typeface="Arial"/>
                <a:ea typeface="Arial"/>
                <a:cs typeface="Arial"/>
              </a:rPr>
              <a:t>Overfill SFL Spy</a:t>
            </a:r>
          </a:p>
        </p:txBody>
      </p:sp>
      <p:sp>
        <p:nvSpPr>
          <p:cNvPr id="2" name="text-39">
            <a:extLst xmlns:a="http://schemas.openxmlformats.org/drawingml/2006/main">
              <a:ext uri="{FF2B5EF4-FFF2-40B4-BE49-F238E27FC236}">
                <a16:creationId xmlns:a16="http://schemas.microsoft.com/office/drawing/2014/main" id="{83F5528B-C992-47B8-A072-2DE91D6B7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Cruce de transacciones con el límite de llenado seguro por producto</a:t>
            </a:r>
          </a:p>
        </p:txBody>
      </p:sp>
      <p:sp>
        <p:nvSpPr>
          <p:cNvPr id="3" name="text-40">
            <a:extLst xmlns:a="http://schemas.openxmlformats.org/drawingml/2006/main">
              <a:ext uri="{FF2B5EF4-FFF2-40B4-BE49-F238E27FC236}">
                <a16:creationId xmlns:a16="http://schemas.microsoft.com/office/drawing/2014/main" id="{F72F79DF-38AD-43BE-91FC-2729E4D62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86500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500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B54840-3AD8-4B51-92BF-666F7E719834}"/>
              </a:ext>
            </a:extLst>
          </p:cNvPr>
          <p:cNvGraphicFramePr/>
          <p:nvPr/>
        </p:nvGraphicFramePr>
        <p:xfrm>
          <a:off xmlns:a="http://schemas.openxmlformats.org/drawingml/2006/main" x="685800" y="2143125"/>
          <a:ext xmlns:a="http://schemas.openxmlformats.org/drawingml/2006/main" cx="10820400" cy="2524125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476500"/>
                <a:gridCol w="1809750"/>
                <a:gridCol w="2190750"/>
                <a:gridCol w="1905000"/>
                <a:gridCol w="2438400"/>
              </a:tblGrid>
              <a:tr h="841375">
                <a:tc>
                  <a:txBody>
                    <a:bodyPr lIns="133350" tIns="114300" rIns="114300" bIns="95250"/>
                    <a:lstStyle/>
                    <a:p>
                      <a:r>
                        <a:rPr sz="1950" b="1">
                          <a:solidFill>
                            <a:srgbClr val="F6F3EB"/>
                          </a:solidFill>
                          <a:latin typeface="Arial"/>
                          <a:ea typeface="Arial"/>
                          <a:cs typeface="Arial"/>
                        </a:rPr>
                        <a:t>Equipo demo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2DDD7"/>
                      </a:solidFill>
                      <a:prstDash val="solid"/>
                    </a:lnL>
                    <a:lnR w="6668">
                      <a:solidFill>
                        <a:srgbClr val="D2DDD7"/>
                      </a:solidFill>
                      <a:prstDash val="solid"/>
                    </a:lnR>
                    <a:lnT w="6668">
                      <a:solidFill>
                        <a:srgbClr val="D2DDD7"/>
                      </a:solidFill>
                      <a:prstDash val="solid"/>
                    </a:lnT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0D292E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950" b="1">
                          <a:solidFill>
                            <a:srgbClr val="F6F3EB"/>
                          </a:solidFill>
                          <a:latin typeface="Arial"/>
                          <a:ea typeface="Arial"/>
                          <a:cs typeface="Arial"/>
                        </a:rPr>
                        <a:t>SFL (L)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T w="6668">
                      <a:solidFill>
                        <a:srgbClr val="D2DDD7"/>
                      </a:solidFill>
                      <a:prstDash val="solid"/>
                    </a:lnT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0D292E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950" b="1">
                          <a:solidFill>
                            <a:srgbClr val="F6F3EB"/>
                          </a:solidFill>
                          <a:latin typeface="Arial"/>
                          <a:ea typeface="Arial"/>
                          <a:cs typeface="Arial"/>
                        </a:rPr>
                        <a:t>Registro (L)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T w="6668">
                      <a:solidFill>
                        <a:srgbClr val="D2DDD7"/>
                      </a:solidFill>
                      <a:prstDash val="solid"/>
                    </a:lnT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0D292E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950" b="1">
                          <a:solidFill>
                            <a:srgbClr val="F6F3EB"/>
                          </a:solidFill>
                          <a:latin typeface="Arial"/>
                          <a:ea typeface="Arial"/>
                          <a:cs typeface="Arial"/>
                        </a:rPr>
                        <a:t>Exceso (L)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T w="6668">
                      <a:solidFill>
                        <a:srgbClr val="D2DDD7"/>
                      </a:solidFill>
                      <a:prstDash val="solid"/>
                    </a:lnT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0D292E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950" b="1">
                          <a:solidFill>
                            <a:srgbClr val="F6F3EB"/>
                          </a:solidFill>
                          <a:latin typeface="Arial"/>
                          <a:ea typeface="Arial"/>
                          <a:cs typeface="Arial"/>
                        </a:rPr>
                        <a:t>Lectura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T w="6668">
                      <a:solidFill>
                        <a:srgbClr val="D2DDD7"/>
                      </a:solidFill>
                      <a:prstDash val="solid"/>
                    </a:lnT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0D292E"/>
                    </a:solidFill>
                  </a:tcPr>
                </a:tc>
              </a:tr>
              <a:tr h="841375">
                <a:tc>
                  <a:txBody>
                    <a:bodyPr lIns="133350" tIns="114300" rIns="114300" bIns="95250"/>
                    <a:lstStyle/>
                    <a:p>
                      <a:r>
                        <a:rPr sz="195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DLV-302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2DDD7"/>
                      </a:solidFill>
                      <a:prstDash val="solid"/>
                    </a:lnL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95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110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95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150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95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40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95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Revisar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</a:tr>
              <a:tr h="841375">
                <a:tc>
                  <a:txBody>
                    <a:bodyPr lIns="133350" tIns="114300" rIns="114300" bIns="95250"/>
                    <a:lstStyle/>
                    <a:p>
                      <a:r>
                        <a:rPr sz="195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DLV-302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2DDD7"/>
                      </a:solidFill>
                      <a:prstDash val="solid"/>
                    </a:lnL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95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110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95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157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95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47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95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Revisar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</a:tr>
            </a:tbl>
          </a:graphicData>
        </a:graphic>
      </p:graphicFrame>
      <p:sp>
        <p:nvSpPr>
          <p:cNvPr id="5" name="text-41">
            <a:extLst xmlns:a="http://schemas.openxmlformats.org/drawingml/2006/main">
              <a:ext uri="{FF2B5EF4-FFF2-40B4-BE49-F238E27FC236}">
                <a16:creationId xmlns:a16="http://schemas.microsoft.com/office/drawing/2014/main" id="{BB81AF42-D276-4D79-8AF2-AA0C2D329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57775"/>
            <a:ext cx="2476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1">
                <a:solidFill>
                  <a:srgbClr val="137C7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1">
                <a:solidFill>
                  <a:srgbClr val="137C76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37C76"/>
                </a:solidFill>
                <a:latin typeface="Arial"/>
                <a:ea typeface="Arial"/>
                <a:cs typeface="Arial"/>
              </a:rPr>
              <a:t>Priorización</a:t>
            </a:r>
          </a:p>
        </p:txBody>
      </p:sp>
      <p:sp>
        <p:nvSpPr>
          <p:cNvPr id="6" name="text-42">
            <a:extLst xmlns:a="http://schemas.openxmlformats.org/drawingml/2006/main">
              <a:ext uri="{FF2B5EF4-FFF2-40B4-BE49-F238E27FC236}">
                <a16:creationId xmlns:a16="http://schemas.microsoft.com/office/drawing/2014/main" id="{900CE38E-B91F-48F9-97DB-17BA8DE49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5067300"/>
            <a:ext cx="77152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0D292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0D292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0D292E"/>
                </a:solidFill>
                <a:latin typeface="Arial"/>
                <a:ea typeface="Arial"/>
                <a:cs typeface="Arial"/>
              </a:rPr>
              <a:t>Exceso, recurrencia y equipos sin límite configurado.</a:t>
            </a:r>
          </a:p>
        </p:txBody>
      </p:sp>
      <p:sp>
        <p:nvSpPr>
          <p:cNvPr id="7" name="text-43">
            <a:extLst xmlns:a="http://schemas.openxmlformats.org/drawingml/2006/main">
              <a:ext uri="{FF2B5EF4-FFF2-40B4-BE49-F238E27FC236}">
                <a16:creationId xmlns:a16="http://schemas.microsoft.com/office/drawing/2014/main" id="{1C0C37A0-1966-4890-B1B4-0970DACA1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86475"/>
            <a:ext cx="1057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Ejemplo sintético. La alerta indica una transacción a revisar</a:t>
            </a:r>
          </a:p>
        </p:txBody>
      </p:sp>
    </p:spTree>
    <p:extLst>
      <p:ext uri="{BB962C8B-B14F-4D97-AF65-F5344CB8AC3E}">
        <p14:creationId xmlns:p14="http://schemas.microsoft.com/office/powerpoint/2010/main" val="31488044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-44">
            <a:extLst xmlns:a="http://schemas.openxmlformats.org/drawingml/2006/main">
              <a:ext uri="{FF2B5EF4-FFF2-40B4-BE49-F238E27FC236}">
                <a16:creationId xmlns:a16="http://schemas.microsoft.com/office/drawing/2014/main" id="{4C1CFF9F-2929-4203-B14A-1FE0E50FE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600" b="1">
                <a:solidFill>
                  <a:srgbClr val="0D292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600" b="1">
                <a:solidFill>
                  <a:srgbClr val="0D292E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D292E"/>
                </a:solidFill>
                <a:latin typeface="Arial"/>
                <a:ea typeface="Arial"/>
                <a:cs typeface="Arial"/>
              </a:rPr>
              <a:t>Sweeper and Mop</a:t>
            </a:r>
          </a:p>
        </p:txBody>
      </p:sp>
      <p:sp>
        <p:nvSpPr>
          <p:cNvPr id="2" name="text-45">
            <a:extLst xmlns:a="http://schemas.openxmlformats.org/drawingml/2006/main">
              <a:ext uri="{FF2B5EF4-FFF2-40B4-BE49-F238E27FC236}">
                <a16:creationId xmlns:a16="http://schemas.microsoft.com/office/drawing/2014/main" id="{EBDD2415-87C4-4A37-95D6-44484FF30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Calidad de datos y propuestas con evidencia</a:t>
            </a:r>
          </a:p>
        </p:txBody>
      </p:sp>
      <p:sp>
        <p:nvSpPr>
          <p:cNvPr id="3" name="text-46">
            <a:extLst xmlns:a="http://schemas.openxmlformats.org/drawingml/2006/main">
              <a:ext uri="{FF2B5EF4-FFF2-40B4-BE49-F238E27FC236}">
                <a16:creationId xmlns:a16="http://schemas.microsoft.com/office/drawing/2014/main" id="{53538F57-CF19-40F4-B0A5-A11C5A23C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86500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500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4" name="text-47">
            <a:extLst xmlns:a="http://schemas.openxmlformats.org/drawingml/2006/main">
              <a:ext uri="{FF2B5EF4-FFF2-40B4-BE49-F238E27FC236}">
                <a16:creationId xmlns:a16="http://schemas.microsoft.com/office/drawing/2014/main" id="{055D2833-DB4A-429A-A143-E08741B18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28825"/>
            <a:ext cx="36957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550" b="1">
                <a:solidFill>
                  <a:srgbClr val="137C7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137C7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37C76"/>
                </a:solidFill>
                <a:latin typeface="Arial"/>
                <a:ea typeface="Arial"/>
                <a:cs typeface="Arial"/>
              </a:rPr>
              <a:t>Tiempo y caudal</a:t>
            </a:r>
          </a:p>
        </p:txBody>
      </p:sp>
      <p:sp>
        <p:nvSpPr>
          <p:cNvPr id="5" name="text-48">
            <a:extLst xmlns:a="http://schemas.openxmlformats.org/drawingml/2006/main">
              <a:ext uri="{FF2B5EF4-FFF2-40B4-BE49-F238E27FC236}">
                <a16:creationId xmlns:a16="http://schemas.microsoft.com/office/drawing/2014/main" id="{65DF4B6F-2070-4A73-A816-D25B6C9E5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00325"/>
            <a:ext cx="3352800" cy="1209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0D292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0D292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0D292E"/>
                </a:solidFill>
                <a:latin typeface="Arial"/>
                <a:ea typeface="Arial"/>
                <a:cs typeface="Arial"/>
              </a:rPr>
              <a:t>Revisa duración, volumen, perfil de flujo y posibles arrastres de lectura.</a:t>
            </a:r>
          </a:p>
        </p:txBody>
      </p:sp>
      <p:sp>
        <p:nvSpPr>
          <p:cNvPr id="6" name="text-49">
            <a:extLst xmlns:a="http://schemas.openxmlformats.org/drawingml/2006/main">
              <a:ext uri="{FF2B5EF4-FFF2-40B4-BE49-F238E27FC236}">
                <a16:creationId xmlns:a16="http://schemas.microsoft.com/office/drawing/2014/main" id="{EA98F0C4-51FD-4EE3-AED7-0256A3EB2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95775"/>
            <a:ext cx="36957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550" b="1">
                <a:solidFill>
                  <a:srgbClr val="137C7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137C7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37C76"/>
                </a:solidFill>
                <a:latin typeface="Arial"/>
                <a:ea typeface="Arial"/>
                <a:cs typeface="Arial"/>
              </a:rPr>
              <a:t>Datos maestros</a:t>
            </a:r>
          </a:p>
        </p:txBody>
      </p:sp>
      <p:sp>
        <p:nvSpPr>
          <p:cNvPr id="7" name="text-50">
            <a:extLst xmlns:a="http://schemas.openxmlformats.org/drawingml/2006/main">
              <a:ext uri="{FF2B5EF4-FFF2-40B4-BE49-F238E27FC236}">
                <a16:creationId xmlns:a16="http://schemas.microsoft.com/office/drawing/2014/main" id="{CF2B765E-0549-40A7-8EF6-AD69091A3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67275"/>
            <a:ext cx="33528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0D292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0D292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0D292E"/>
                </a:solidFill>
                <a:latin typeface="Arial"/>
                <a:ea typeface="Arial"/>
                <a:cs typeface="Arial"/>
              </a:rPr>
              <a:t>Contrasta matrículas, centros de costo y banderas de equipos.</a:t>
            </a:r>
          </a:p>
        </p:txBody>
      </p:sp>
      <p:graphicFrame>
        <p:nvGraphicFrame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C99F0D-6956-45DD-B39E-1B065532B43B}"/>
              </a:ext>
            </a:extLst>
          </p:cNvPr>
          <p:cNvGraphicFramePr/>
          <p:nvPr/>
        </p:nvGraphicFramePr>
        <p:xfrm>
          <a:off xmlns:a="http://schemas.openxmlformats.org/drawingml/2006/main" x="4457700" y="2114550"/>
          <a:ext xmlns:a="http://schemas.openxmlformats.org/drawingml/2006/main" cx="7048500" cy="25908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1866900"/>
                <a:gridCol w="1581150"/>
                <a:gridCol w="1809750"/>
                <a:gridCol w="1790700"/>
              </a:tblGrid>
              <a:tr h="647700">
                <a:tc>
                  <a:txBody>
                    <a:bodyPr lIns="133350" tIns="114300" rIns="114300" bIns="95250"/>
                    <a:lstStyle/>
                    <a:p>
                      <a:r>
                        <a:rPr sz="1800" b="1">
                          <a:solidFill>
                            <a:srgbClr val="F6F3EB"/>
                          </a:solidFill>
                          <a:latin typeface="Arial"/>
                          <a:ea typeface="Arial"/>
                          <a:cs typeface="Arial"/>
                        </a:rPr>
                        <a:t>Caso demo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2DDD7"/>
                      </a:solidFill>
                      <a:prstDash val="solid"/>
                    </a:lnL>
                    <a:lnR w="6668">
                      <a:solidFill>
                        <a:srgbClr val="D2DDD7"/>
                      </a:solidFill>
                      <a:prstDash val="solid"/>
                    </a:lnR>
                    <a:lnT w="6668">
                      <a:solidFill>
                        <a:srgbClr val="D2DDD7"/>
                      </a:solidFill>
                      <a:prstDash val="solid"/>
                    </a:lnT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0D292E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800" b="1">
                          <a:solidFill>
                            <a:srgbClr val="F6F3EB"/>
                          </a:solidFill>
                          <a:latin typeface="Arial"/>
                          <a:ea typeface="Arial"/>
                          <a:cs typeface="Arial"/>
                        </a:rPr>
                        <a:t>Duración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T w="6668">
                      <a:solidFill>
                        <a:srgbClr val="D2DDD7"/>
                      </a:solidFill>
                      <a:prstDash val="solid"/>
                    </a:lnT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0D292E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800" b="1">
                          <a:solidFill>
                            <a:srgbClr val="F6F3EB"/>
                          </a:solidFill>
                          <a:latin typeface="Arial"/>
                          <a:ea typeface="Arial"/>
                          <a:cs typeface="Arial"/>
                        </a:rPr>
                        <a:t>Registro (L)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T w="6668">
                      <a:solidFill>
                        <a:srgbClr val="D2DDD7"/>
                      </a:solidFill>
                      <a:prstDash val="solid"/>
                    </a:lnT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0D292E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800" b="1">
                          <a:solidFill>
                            <a:srgbClr val="F6F3EB"/>
                          </a:solidFill>
                          <a:latin typeface="Arial"/>
                          <a:ea typeface="Arial"/>
                          <a:cs typeface="Arial"/>
                        </a:rPr>
                        <a:t>Acción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T w="6668">
                      <a:solidFill>
                        <a:srgbClr val="D2DDD7"/>
                      </a:solidFill>
                      <a:prstDash val="solid"/>
                    </a:lnT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0D292E"/>
                    </a:solidFill>
                  </a:tcPr>
                </a:tc>
              </a:tr>
              <a:tr h="647700">
                <a:tc>
                  <a:txBody>
                    <a:bodyPr lIns="133350" tIns="114300" rIns="114300" bIns="95250"/>
                    <a:lstStyle/>
                    <a:p>
                      <a:r>
                        <a:rPr sz="180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D-D00100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2DDD7"/>
                      </a:solidFill>
                      <a:prstDash val="solid"/>
                    </a:lnL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80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3 s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80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415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80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Revisión manual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</a:tr>
              <a:tr h="647700">
                <a:tc>
                  <a:txBody>
                    <a:bodyPr lIns="133350" tIns="114300" rIns="114300" bIns="95250"/>
                    <a:lstStyle/>
                    <a:p>
                      <a:r>
                        <a:rPr sz="180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D-D00153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2DDD7"/>
                      </a:solidFill>
                      <a:prstDash val="solid"/>
                    </a:lnL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80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145 s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80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271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80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Revisión manual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</a:tr>
              <a:tr h="647700">
                <a:tc>
                  <a:txBody>
                    <a:bodyPr lIns="133350" tIns="114300" rIns="114300" bIns="95250"/>
                    <a:lstStyle/>
                    <a:p>
                      <a:r>
                        <a:rPr sz="180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D-D00204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2DDD7"/>
                      </a:solidFill>
                      <a:prstDash val="solid"/>
                    </a:lnL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80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216 s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80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404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80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Revisión manual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</a:tr>
            </a:tbl>
          </a:graphicData>
        </a:graphic>
      </p:graphicFrame>
      <p:sp>
        <p:nvSpPr>
          <p:cNvPr id="9" name="text-51">
            <a:extLst xmlns:a="http://schemas.openxmlformats.org/drawingml/2006/main">
              <a:ext uri="{FF2B5EF4-FFF2-40B4-BE49-F238E27FC236}">
                <a16:creationId xmlns:a16="http://schemas.microsoft.com/office/drawing/2014/main" id="{74141CA4-A59A-477E-8837-B14AF07DD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5076825"/>
            <a:ext cx="69151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137C7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137C76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37C76"/>
                </a:solidFill>
                <a:latin typeface="Arial"/>
                <a:ea typeface="Arial"/>
                <a:cs typeface="Arial"/>
              </a:rPr>
              <a:t>Cada propuesta conserva la evidencia y requiere revisión del analista.</a:t>
            </a:r>
          </a:p>
        </p:txBody>
      </p:sp>
      <p:sp>
        <p:nvSpPr>
          <p:cNvPr id="10" name="text-52">
            <a:extLst xmlns:a="http://schemas.openxmlformats.org/drawingml/2006/main">
              <a:ext uri="{FF2B5EF4-FFF2-40B4-BE49-F238E27FC236}">
                <a16:creationId xmlns:a16="http://schemas.microsoft.com/office/drawing/2014/main" id="{F19DFA89-CA41-46D9-8932-95E86BECE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86475"/>
            <a:ext cx="1057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Ejemplo sintético. Los tres registros requieren revisión de la evidencia</a:t>
            </a:r>
          </a:p>
        </p:txBody>
      </p:sp>
    </p:spTree>
    <p:extLst>
      <p:ext uri="{BB962C8B-B14F-4D97-AF65-F5344CB8AC3E}">
        <p14:creationId xmlns:p14="http://schemas.microsoft.com/office/powerpoint/2010/main" val="105904455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53">
            <a:extLst xmlns:a="http://schemas.openxmlformats.org/drawingml/2006/main">
              <a:ext uri="{FF2B5EF4-FFF2-40B4-BE49-F238E27FC236}">
                <a16:creationId xmlns:a16="http://schemas.microsoft.com/office/drawing/2014/main" id="{7DB6BD0B-A99F-44EA-B7CA-BE0EBB8AC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600" b="1">
                <a:solidFill>
                  <a:srgbClr val="0D292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600" b="1">
                <a:solidFill>
                  <a:srgbClr val="0D292E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D292E"/>
                </a:solidFill>
                <a:latin typeface="Arial"/>
                <a:ea typeface="Arial"/>
                <a:cs typeface="Arial"/>
              </a:rPr>
              <a:t>HMI Tank</a:t>
            </a:r>
          </a:p>
        </p:txBody>
      </p:sp>
      <p:sp>
        <p:nvSpPr>
          <p:cNvPr id="2" name="text-54">
            <a:extLst xmlns:a="http://schemas.openxmlformats.org/drawingml/2006/main">
              <a:ext uri="{FF2B5EF4-FFF2-40B4-BE49-F238E27FC236}">
                <a16:creationId xmlns:a16="http://schemas.microsoft.com/office/drawing/2014/main" id="{89E92AB6-2A3C-4D44-8D82-D450E8B8C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Exploración de movimientos y lecturas de tanques en el navegador</a:t>
            </a:r>
          </a:p>
        </p:txBody>
      </p:sp>
      <p:sp>
        <p:nvSpPr>
          <p:cNvPr id="3" name="text-55">
            <a:extLst xmlns:a="http://schemas.openxmlformats.org/drawingml/2006/main">
              <a:ext uri="{FF2B5EF4-FFF2-40B4-BE49-F238E27FC236}">
                <a16:creationId xmlns:a16="http://schemas.microsoft.com/office/drawing/2014/main" id="{A2C49646-6097-4322-9176-DC1DF450B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86500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500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" name="text-56">
            <a:extLst xmlns:a="http://schemas.openxmlformats.org/drawingml/2006/main">
              <a:ext uri="{FF2B5EF4-FFF2-40B4-BE49-F238E27FC236}">
                <a16:creationId xmlns:a16="http://schemas.microsoft.com/office/drawing/2014/main" id="{8DB3F43C-6DC1-410B-9328-10D706B73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33600"/>
            <a:ext cx="34290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550" b="1">
                <a:solidFill>
                  <a:srgbClr val="137C7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137C7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37C76"/>
                </a:solidFill>
                <a:latin typeface="Arial"/>
                <a:ea typeface="Arial"/>
                <a:cs typeface="Arial"/>
              </a:rPr>
              <a:t>Stock medido</a:t>
            </a:r>
          </a:p>
          <a:p xmlns:a="http://schemas.openxmlformats.org/drawingml/2006/main">
            <a:pPr>
              <a:defRPr sz="2550" b="1">
                <a:solidFill>
                  <a:srgbClr val="137C7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37C76"/>
                </a:solidFill>
                <a:latin typeface="Arial"/>
                <a:ea typeface="Arial"/>
                <a:cs typeface="Arial"/>
              </a:rPr>
              <a:t>y balance calculado</a:t>
            </a:r>
          </a:p>
        </p:txBody>
      </p:sp>
      <p:sp>
        <p:nvSpPr>
          <p:cNvPr id="5" name="text-57">
            <a:extLst xmlns:a="http://schemas.openxmlformats.org/drawingml/2006/main">
              <a:ext uri="{FF2B5EF4-FFF2-40B4-BE49-F238E27FC236}">
                <a16:creationId xmlns:a16="http://schemas.microsoft.com/office/drawing/2014/main" id="{DBBE005B-CC6D-433B-8460-FD16E73F6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71875"/>
            <a:ext cx="31432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0D292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0D292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0D292E"/>
                </a:solidFill>
                <a:latin typeface="Arial"/>
                <a:ea typeface="Arial"/>
                <a:cs typeface="Arial"/>
              </a:rPr>
              <a:t>Reproducción temporal, tendencias y alertas con evidencia.</a:t>
            </a:r>
          </a:p>
        </p:txBody>
      </p:sp>
      <p:sp>
        <p:nvSpPr>
          <p:cNvPr id="6" name="text-58">
            <a:extLst xmlns:a="http://schemas.openxmlformats.org/drawingml/2006/main">
              <a:ext uri="{FF2B5EF4-FFF2-40B4-BE49-F238E27FC236}">
                <a16:creationId xmlns:a16="http://schemas.microsoft.com/office/drawing/2014/main" id="{3A387669-921D-4B7F-810A-3BF50BB86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95875"/>
            <a:ext cx="342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Lecturas + movimientos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38D3CDD4-424C-4DCD-BCEE-C262C490B932}"/>
              </a:ext>
            </a:extLst>
          </p:cNvPr>
          <p:cNvGraphicFramePr/>
          <p:nvPr/>
        </p:nvGraphicFramePr>
        <p:xfrm>
          <a:off xmlns:a="http://schemas.openxmlformats.org/drawingml/2006/main" x="4333875" y="1981200"/>
          <a:ext xmlns:a="http://schemas.openxmlformats.org/drawingml/2006/main" cx="7172325" cy="35337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4eaae22bcef4402"/>
          </a:graphicData>
        </a:graphic>
      </p:graphicFrame>
      <p:sp>
        <p:nvSpPr>
          <p:cNvPr id="8" name="text-59">
            <a:extLst xmlns:a="http://schemas.openxmlformats.org/drawingml/2006/main">
              <a:ext uri="{FF2B5EF4-FFF2-40B4-BE49-F238E27FC236}">
                <a16:creationId xmlns:a16="http://schemas.microsoft.com/office/drawing/2014/main" id="{237393CA-DB1C-4188-B241-F6AE00464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48350"/>
            <a:ext cx="1057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Ejemplo sintético. El cálculo combina nivel de referencia e ingresos y salidas</a:t>
            </a:r>
          </a:p>
        </p:txBody>
      </p:sp>
    </p:spTree>
    <p:extLst>
      <p:ext uri="{BB962C8B-B14F-4D97-AF65-F5344CB8AC3E}">
        <p14:creationId xmlns:p14="http://schemas.microsoft.com/office/powerpoint/2010/main" val="18303700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D29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60">
            <a:extLst xmlns:a="http://schemas.openxmlformats.org/drawingml/2006/main">
              <a:ext uri="{FF2B5EF4-FFF2-40B4-BE49-F238E27FC236}">
                <a16:creationId xmlns:a16="http://schemas.microsoft.com/office/drawing/2014/main" id="{3632304E-EA89-4517-882F-8294FBB9A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60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60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6F3EB"/>
                </a:solidFill>
                <a:latin typeface="Arial"/>
                <a:ea typeface="Arial"/>
                <a:cs typeface="Arial"/>
              </a:rPr>
              <a:t>Datos de demo y privacidad</a:t>
            </a:r>
          </a:p>
        </p:txBody>
      </p:sp>
      <p:sp>
        <p:nvSpPr>
          <p:cNvPr id="2" name="text-61">
            <a:extLst xmlns:a="http://schemas.openxmlformats.org/drawingml/2006/main">
              <a:ext uri="{FF2B5EF4-FFF2-40B4-BE49-F238E27FC236}">
                <a16:creationId xmlns:a16="http://schemas.microsoft.com/office/drawing/2014/main" id="{5715EF6A-00A5-460E-9652-C758220B8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86500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 b="0">
                <a:solidFill>
                  <a:srgbClr val="A6B7B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500" b="0">
                <a:solidFill>
                  <a:srgbClr val="A6B7B1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A6B7B1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3" name="text-62">
            <a:extLst xmlns:a="http://schemas.openxmlformats.org/drawingml/2006/main">
              <a:ext uri="{FF2B5EF4-FFF2-40B4-BE49-F238E27FC236}">
                <a16:creationId xmlns:a16="http://schemas.microsoft.com/office/drawing/2014/main" id="{B3DDF01F-7C5C-4FB9-BC53-7C8D73941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71650"/>
            <a:ext cx="7715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5025" b="1">
                <a:solidFill>
                  <a:srgbClr val="D8F36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5025" b="1">
                <a:solidFill>
                  <a:srgbClr val="D8F36A"/>
                </a:solidFill>
                <a:latin typeface="Arial"/>
                <a:ea typeface="Arial"/>
                <a:cs typeface="Arial"/>
              </a:defRPr>
            </a:pPr>
            <a:r>
              <a:rPr sz="5025" b="1">
                <a:solidFill>
                  <a:srgbClr val="D8F36A"/>
                </a:solidFill>
                <a:latin typeface="Arial"/>
                <a:ea typeface="Arial"/>
                <a:cs typeface="Arial"/>
              </a:rPr>
              <a:t>100% sintéticos</a:t>
            </a:r>
          </a:p>
        </p:txBody>
      </p:sp>
      <p:sp>
        <p:nvSpPr>
          <p:cNvPr id="4" name="text-63">
            <a:extLst xmlns:a="http://schemas.openxmlformats.org/drawingml/2006/main">
              <a:ext uri="{FF2B5EF4-FFF2-40B4-BE49-F238E27FC236}">
                <a16:creationId xmlns:a16="http://schemas.microsoft.com/office/drawing/2014/main" id="{B6294CFE-D155-4698-850E-A83809B67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0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1">
                <a:solidFill>
                  <a:srgbClr val="D8F36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1">
                <a:solidFill>
                  <a:srgbClr val="D8F36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D8F36A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text-64">
            <a:extLst xmlns:a="http://schemas.openxmlformats.org/drawingml/2006/main">
              <a:ext uri="{FF2B5EF4-FFF2-40B4-BE49-F238E27FC236}">
                <a16:creationId xmlns:a16="http://schemas.microsoft.com/office/drawing/2014/main" id="{8CA8D245-1DB6-4FA3-9BB0-1AA7646A3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048000"/>
            <a:ext cx="4600575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6F3EB"/>
                </a:solidFill>
                <a:latin typeface="Arial"/>
                <a:ea typeface="Arial"/>
                <a:cs typeface="Arial"/>
              </a:rPr>
              <a:t>Generar casos con reglas conocidas</a:t>
            </a:r>
          </a:p>
        </p:txBody>
      </p:sp>
      <p:sp>
        <p:nvSpPr>
          <p:cNvPr id="6" name="text-65">
            <a:extLst xmlns:a="http://schemas.openxmlformats.org/drawingml/2006/main">
              <a:ext uri="{FF2B5EF4-FFF2-40B4-BE49-F238E27FC236}">
                <a16:creationId xmlns:a16="http://schemas.microsoft.com/office/drawing/2014/main" id="{DC24D52B-5CAC-4AB8-8396-E484597DC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52850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1">
                <a:solidFill>
                  <a:srgbClr val="D8F36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1">
                <a:solidFill>
                  <a:srgbClr val="D8F36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D8F36A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7" name="text-66">
            <a:extLst xmlns:a="http://schemas.openxmlformats.org/drawingml/2006/main">
              <a:ext uri="{FF2B5EF4-FFF2-40B4-BE49-F238E27FC236}">
                <a16:creationId xmlns:a16="http://schemas.microsoft.com/office/drawing/2014/main" id="{3A92FE41-7132-4D13-86A9-EC9BA0BEC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752850"/>
            <a:ext cx="4600575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6F3EB"/>
                </a:solidFill>
                <a:latin typeface="Arial"/>
                <a:ea typeface="Arial"/>
                <a:cs typeface="Arial"/>
              </a:rPr>
              <a:t>Conservar encabezados y relaciones</a:t>
            </a:r>
          </a:p>
        </p:txBody>
      </p:sp>
      <p:sp>
        <p:nvSpPr>
          <p:cNvPr id="8" name="text-67">
            <a:extLst xmlns:a="http://schemas.openxmlformats.org/drawingml/2006/main">
              <a:ext uri="{FF2B5EF4-FFF2-40B4-BE49-F238E27FC236}">
                <a16:creationId xmlns:a16="http://schemas.microsoft.com/office/drawing/2014/main" id="{D73BD71B-8986-4B3B-9F45-1C2ACB671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57700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1">
                <a:solidFill>
                  <a:srgbClr val="D8F36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1">
                <a:solidFill>
                  <a:srgbClr val="D8F36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D8F36A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9" name="text-68">
            <a:extLst xmlns:a="http://schemas.openxmlformats.org/drawingml/2006/main">
              <a:ext uri="{FF2B5EF4-FFF2-40B4-BE49-F238E27FC236}">
                <a16:creationId xmlns:a16="http://schemas.microsoft.com/office/drawing/2014/main" id="{6BCB1C99-7177-4F2B-9B54-8A9399FA9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457700"/>
            <a:ext cx="4600575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6F3EB"/>
                </a:solidFill>
                <a:latin typeface="Arial"/>
                <a:ea typeface="Arial"/>
                <a:cs typeface="Arial"/>
              </a:rPr>
              <a:t>Comprobar resultados esperados</a:t>
            </a:r>
          </a:p>
        </p:txBody>
      </p:sp>
      <p:sp>
        <p:nvSpPr>
          <p:cNvPr id="10" name="text-69">
            <a:extLst xmlns:a="http://schemas.openxmlformats.org/drawingml/2006/main">
              <a:ext uri="{FF2B5EF4-FFF2-40B4-BE49-F238E27FC236}">
                <a16:creationId xmlns:a16="http://schemas.microsoft.com/office/drawing/2014/main" id="{844CBF06-F259-43DE-9D57-3E6CB69CD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62550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1">
                <a:solidFill>
                  <a:srgbClr val="D8F36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1">
                <a:solidFill>
                  <a:srgbClr val="D8F36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D8F36A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1" name="text-70">
            <a:extLst xmlns:a="http://schemas.openxmlformats.org/drawingml/2006/main">
              <a:ext uri="{FF2B5EF4-FFF2-40B4-BE49-F238E27FC236}">
                <a16:creationId xmlns:a16="http://schemas.microsoft.com/office/drawing/2014/main" id="{B5866D48-90DE-48E6-BA27-3C7E7A512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62550"/>
            <a:ext cx="4600575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6F3EB"/>
                </a:solidFill>
                <a:latin typeface="Arial"/>
                <a:ea typeface="Arial"/>
                <a:cs typeface="Arial"/>
              </a:rPr>
              <a:t>Presentar ejemplos etiquetados</a:t>
            </a:r>
          </a:p>
        </p:txBody>
      </p:sp>
      <p:sp>
        <p:nvSpPr>
          <p:cNvPr id="12" name="text-71">
            <a:extLst xmlns:a="http://schemas.openxmlformats.org/drawingml/2006/main">
              <a:ext uri="{FF2B5EF4-FFF2-40B4-BE49-F238E27FC236}">
                <a16:creationId xmlns:a16="http://schemas.microsoft.com/office/drawing/2014/main" id="{97A2CB94-9731-4FBA-8F16-6E0426976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124200"/>
            <a:ext cx="4524375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6F3EB"/>
                </a:solidFill>
                <a:latin typeface="Arial"/>
                <a:ea typeface="Arial"/>
                <a:cs typeface="Arial"/>
              </a:rPr>
              <a:t>Identificadores y grupos ficticios</a:t>
            </a:r>
          </a:p>
          <a:p xmlns:a="http://schemas.openxmlformats.org/drawingml/2006/main">
            <a:pPr>
              <a:defRPr sz="2100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6F3EB"/>
                </a:solidFill>
                <a:latin typeface="Arial"/>
                <a:ea typeface="Arial"/>
                <a:cs typeface="Arial"/>
              </a:rPr>
              <a:t>Personas y ubicaciones inventadas</a:t>
            </a:r>
          </a:p>
          <a:p xmlns:a="http://schemas.openxmlformats.org/drawingml/2006/main">
            <a:pPr>
              <a:defRPr sz="2100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6F3EB"/>
                </a:solidFill>
                <a:latin typeface="Arial"/>
                <a:ea typeface="Arial"/>
                <a:cs typeface="Arial"/>
              </a:rPr>
              <a:t>Fechas y cantidades de demostración</a:t>
            </a:r>
          </a:p>
          <a:p xmlns:a="http://schemas.openxmlformats.org/drawingml/2006/main">
            <a:pPr>
              <a:defRPr sz="2100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6F3EB"/>
                </a:solidFill>
                <a:latin typeface="Arial"/>
                <a:ea typeface="Arial"/>
                <a:cs typeface="Arial"/>
              </a:rPr>
              <a:t>Recreaciones interactivas de la interfaz</a:t>
            </a:r>
          </a:p>
        </p:txBody>
      </p:sp>
    </p:spTree>
    <p:extLst>
      <p:ext uri="{BB962C8B-B14F-4D97-AF65-F5344CB8AC3E}">
        <p14:creationId xmlns:p14="http://schemas.microsoft.com/office/powerpoint/2010/main" val="18680614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72">
            <a:extLst xmlns:a="http://schemas.openxmlformats.org/drawingml/2006/main">
              <a:ext uri="{FF2B5EF4-FFF2-40B4-BE49-F238E27FC236}">
                <a16:creationId xmlns:a16="http://schemas.microsoft.com/office/drawing/2014/main" id="{70321B8E-2D35-456A-A2AC-CDFB3C82B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600" b="1">
                <a:solidFill>
                  <a:srgbClr val="0D292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600" b="1">
                <a:solidFill>
                  <a:srgbClr val="0D292E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D292E"/>
                </a:solidFill>
                <a:latin typeface="Arial"/>
                <a:ea typeface="Arial"/>
                <a:cs typeface="Arial"/>
              </a:rPr>
              <a:t>Encaje con analítica de datos</a:t>
            </a:r>
          </a:p>
        </p:txBody>
      </p:sp>
      <p:sp>
        <p:nvSpPr>
          <p:cNvPr id="2" name="text-73">
            <a:extLst xmlns:a="http://schemas.openxmlformats.org/drawingml/2006/main">
              <a:ext uri="{FF2B5EF4-FFF2-40B4-BE49-F238E27FC236}">
                <a16:creationId xmlns:a16="http://schemas.microsoft.com/office/drawing/2014/main" id="{84E471ED-7B45-43D6-AEDB-5DFA7A486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86500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500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657A75-792C-4283-A5D9-5B02C3CCAACA}"/>
              </a:ext>
            </a:extLst>
          </p:cNvPr>
          <p:cNvGraphicFramePr/>
          <p:nvPr/>
        </p:nvGraphicFramePr>
        <p:xfrm>
          <a:off xmlns:a="http://schemas.openxmlformats.org/drawingml/2006/main" x="685800" y="1914525"/>
          <a:ext xmlns:a="http://schemas.openxmlformats.org/drawingml/2006/main" cx="10820400" cy="310515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4686300"/>
                <a:gridCol w="6134100"/>
              </a:tblGrid>
              <a:tr h="621030">
                <a:tc>
                  <a:txBody>
                    <a:bodyPr lIns="133350" tIns="114300" rIns="114300" bIns="95250"/>
                    <a:lstStyle/>
                    <a:p>
                      <a:r>
                        <a:rPr sz="2025" b="1">
                          <a:solidFill>
                            <a:srgbClr val="F6F3EB"/>
                          </a:solidFill>
                          <a:latin typeface="Arial"/>
                          <a:ea typeface="Arial"/>
                          <a:cs typeface="Arial"/>
                        </a:rPr>
                        <a:t>Experiencia demostrada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2DDD7"/>
                      </a:solidFill>
                      <a:prstDash val="solid"/>
                    </a:lnL>
                    <a:lnR w="6668">
                      <a:solidFill>
                        <a:srgbClr val="D2DDD7"/>
                      </a:solidFill>
                      <a:prstDash val="solid"/>
                    </a:lnR>
                    <a:lnT w="6668">
                      <a:solidFill>
                        <a:srgbClr val="D2DDD7"/>
                      </a:solidFill>
                      <a:prstDash val="solid"/>
                    </a:lnT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0D292E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2025" b="1">
                          <a:solidFill>
                            <a:srgbClr val="F6F3EB"/>
                          </a:solidFill>
                          <a:latin typeface="Arial"/>
                          <a:ea typeface="Arial"/>
                          <a:cs typeface="Arial"/>
                        </a:rPr>
                        <a:t>Posible aporte al equipo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T w="6668">
                      <a:solidFill>
                        <a:srgbClr val="D2DDD7"/>
                      </a:solidFill>
                      <a:prstDash val="solid"/>
                    </a:lnT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0D292E"/>
                    </a:solidFill>
                  </a:tcPr>
                </a:tc>
              </a:tr>
              <a:tr h="621030">
                <a:tc>
                  <a:txBody>
                    <a:bodyPr lIns="133350" tIns="114300" rIns="114300" bIns="95250"/>
                    <a:lstStyle/>
                    <a:p>
                      <a:r>
                        <a:rPr sz="20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Preparación y calidad de datos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2DDD7"/>
                      </a:solidFill>
                      <a:prstDash val="solid"/>
                    </a:lnL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20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Reglas de validación, trazabilidad</a:t>
                      </a:r>
                    </a:p>
                    <a:p>
                      <a:r>
                        <a:rPr sz="20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y revisión de fuentes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</a:tr>
              <a:tr h="621030">
                <a:tc>
                  <a:txBody>
                    <a:bodyPr lIns="133350" tIns="114300" rIns="114300" bIns="95250"/>
                    <a:lstStyle/>
                    <a:p>
                      <a:r>
                        <a:rPr sz="20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Python, Power BI y SQL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2DDD7"/>
                      </a:solidFill>
                      <a:prstDash val="solid"/>
                    </a:lnL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20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Automatización, análisis</a:t>
                      </a:r>
                    </a:p>
                    <a:p>
                      <a:r>
                        <a:rPr sz="20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y comunicación de resultados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</a:tr>
              <a:tr h="621030">
                <a:tc>
                  <a:txBody>
                    <a:bodyPr lIns="133350" tIns="114300" rIns="114300" bIns="95250"/>
                    <a:lstStyle/>
                    <a:p>
                      <a:r>
                        <a:rPr sz="20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Conocimiento de operaciones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2DDD7"/>
                      </a:solidFill>
                      <a:prstDash val="solid"/>
                    </a:lnL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20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Métricas conectadas con procesos</a:t>
                      </a:r>
                    </a:p>
                    <a:p>
                      <a:r>
                        <a:rPr sz="20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y preguntas del negocio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</a:tr>
              <a:tr h="621030">
                <a:tc>
                  <a:txBody>
                    <a:bodyPr lIns="133350" tIns="114300" rIns="114300" bIns="95250"/>
                    <a:lstStyle/>
                    <a:p>
                      <a:r>
                        <a:rPr sz="20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Desarrollo de software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2DDD7"/>
                      </a:solidFill>
                      <a:prstDash val="solid"/>
                    </a:lnL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20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Herramientas utilizables</a:t>
                      </a:r>
                    </a:p>
                    <a:p>
                      <a:r>
                        <a:rPr sz="20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y resultados reproducibles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</a:tr>
            </a:tbl>
          </a:graphicData>
        </a:graphic>
      </p:graphicFrame>
      <p:sp>
        <p:nvSpPr>
          <p:cNvPr id="4" name="text-74">
            <a:extLst xmlns:a="http://schemas.openxmlformats.org/drawingml/2006/main">
              <a:ext uri="{FF2B5EF4-FFF2-40B4-BE49-F238E27FC236}">
                <a16:creationId xmlns:a16="http://schemas.microsoft.com/office/drawing/2014/main" id="{6C034CBD-BBE8-48B2-90FA-8B8EC4EE8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10200"/>
            <a:ext cx="4191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1">
                <a:solidFill>
                  <a:srgbClr val="137C7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1">
                <a:solidFill>
                  <a:srgbClr val="137C76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37C76"/>
                </a:solidFill>
                <a:latin typeface="Arial"/>
                <a:ea typeface="Arial"/>
                <a:cs typeface="Arial"/>
              </a:rPr>
              <a:t>Siguiente paso propuesto</a:t>
            </a:r>
          </a:p>
        </p:txBody>
      </p:sp>
      <p:sp>
        <p:nvSpPr>
          <p:cNvPr id="5" name="text-75">
            <a:extLst xmlns:a="http://schemas.openxmlformats.org/drawingml/2006/main">
              <a:ext uri="{FF2B5EF4-FFF2-40B4-BE49-F238E27FC236}">
                <a16:creationId xmlns:a16="http://schemas.microsoft.com/office/drawing/2014/main" id="{96E75ECB-3D99-4DC6-96AA-E13C3CDD9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429250"/>
            <a:ext cx="65532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0D292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0D292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D292E"/>
                </a:solidFill>
                <a:latin typeface="Arial"/>
                <a:ea typeface="Arial"/>
                <a:cs typeface="Arial"/>
              </a:rPr>
              <a:t>Evaluar un caso de ML con datos validados y una métrica de negocio.</a:t>
            </a:r>
          </a:p>
        </p:txBody>
      </p:sp>
    </p:spTree>
    <p:extLst>
      <p:ext uri="{BB962C8B-B14F-4D97-AF65-F5344CB8AC3E}">
        <p14:creationId xmlns:p14="http://schemas.microsoft.com/office/powerpoint/2010/main" val="207290622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D29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-76">
            <a:extLst xmlns:a="http://schemas.openxmlformats.org/drawingml/2006/main">
              <a:ext uri="{FF2B5EF4-FFF2-40B4-BE49-F238E27FC236}">
                <a16:creationId xmlns:a16="http://schemas.microsoft.com/office/drawing/2014/main" id="{C24F1111-106A-44D5-B64C-9CA916F57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763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600" b="1">
                <a:solidFill>
                  <a:srgbClr val="D8F36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600" b="1">
                <a:solidFill>
                  <a:srgbClr val="D8F36A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D8F36A"/>
                </a:solidFill>
                <a:latin typeface="Arial"/>
                <a:ea typeface="Arial"/>
                <a:cs typeface="Arial"/>
              </a:rPr>
              <a:t>Conversación</a:t>
            </a:r>
          </a:p>
        </p:txBody>
      </p:sp>
      <p:sp>
        <p:nvSpPr>
          <p:cNvPr id="2" name="text-77">
            <a:extLst xmlns:a="http://schemas.openxmlformats.org/drawingml/2006/main">
              <a:ext uri="{FF2B5EF4-FFF2-40B4-BE49-F238E27FC236}">
                <a16:creationId xmlns:a16="http://schemas.microsoft.com/office/drawing/2014/main" id="{415C784A-E09C-4C76-B9D1-CE802C660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10572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450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450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F6F3EB"/>
                </a:solidFill>
                <a:latin typeface="Arial"/>
                <a:ea typeface="Arial"/>
                <a:cs typeface="Arial"/>
              </a:rPr>
              <a:t>¿Qué problema de datos</a:t>
            </a:r>
          </a:p>
          <a:p xmlns:a="http://schemas.openxmlformats.org/drawingml/2006/main">
            <a:pPr>
              <a:defRPr sz="450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F6F3EB"/>
                </a:solidFill>
                <a:latin typeface="Arial"/>
                <a:ea typeface="Arial"/>
                <a:cs typeface="Arial"/>
              </a:rPr>
              <a:t>les gustaría revisar primero?</a:t>
            </a:r>
          </a:p>
        </p:txBody>
      </p:sp>
      <p:sp>
        <p:nvSpPr>
          <p:cNvPr id="3" name="text-78">
            <a:extLst xmlns:a="http://schemas.openxmlformats.org/drawingml/2006/main">
              <a:ext uri="{FF2B5EF4-FFF2-40B4-BE49-F238E27FC236}">
                <a16:creationId xmlns:a16="http://schemas.microsoft.com/office/drawing/2014/main" id="{5E1F184F-A914-41EA-8604-9DC142512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19700"/>
            <a:ext cx="10429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550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550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F6F3EB"/>
                </a:solidFill>
                <a:latin typeface="Arial"/>
                <a:ea typeface="Arial"/>
                <a:cs typeface="Arial"/>
              </a:rPr>
              <a:t>José David Gómez Chamorro</a:t>
            </a:r>
          </a:p>
        </p:txBody>
      </p:sp>
      <p:sp>
        <p:nvSpPr>
          <p:cNvPr id="4" name="text-79">
            <a:extLst xmlns:a="http://schemas.openxmlformats.org/drawingml/2006/main">
              <a:ext uri="{FF2B5EF4-FFF2-40B4-BE49-F238E27FC236}">
                <a16:creationId xmlns:a16="http://schemas.microsoft.com/office/drawing/2014/main" id="{A0E96F2A-726A-490F-8FDF-35427A520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29300"/>
            <a:ext cx="104298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A6B7B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A6B7B1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A6B7B1"/>
                </a:solidFill>
                <a:latin typeface="Arial"/>
                <a:ea typeface="Arial"/>
                <a:cs typeface="Arial"/>
              </a:rPr>
              <a:t>josedavidgomezchamorro@outlook.com</a:t>
            </a:r>
          </a:p>
        </p:txBody>
      </p:sp>
    </p:spTree>
    <p:extLst>
      <p:ext uri="{BB962C8B-B14F-4D97-AF65-F5344CB8AC3E}">
        <p14:creationId xmlns:p14="http://schemas.microsoft.com/office/powerpoint/2010/main" val="57475088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2026-10-14T03:13:01.6030000Z</dcterms:created>
  <dcterms:modified xsi:type="dcterms:W3CDTF">2026-10-14T03:13:01.6030000Z</dcterms:modified>
</coreProperties>
</file>